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ecf87e7cb4904" /><Relationship Type="http://schemas.openxmlformats.org/officeDocument/2006/relationships/extended-properties" Target="/docProps/app.xml" Id="R4c2f8e0126424c33" /><Relationship Type="http://schemas.openxmlformats.org/officeDocument/2006/relationships/officeDocument" Target="/ppt/presentation.xml" Id="R30b3ef239867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1b8c30b864bc5"/>
  </p:sldMasterIdLst>
  <p:notesMasterIdLst>
    <p:notesMasterId xmlns:r="http://schemas.openxmlformats.org/officeDocument/2006/relationships" r:id="Raebe9a58f46c4130"/>
  </p:notesMasterIdLst>
  <p:sldIdLst>
    <p:sldId xmlns:r="http://schemas.openxmlformats.org/officeDocument/2006/relationships" id="256" r:id="R9aaaa9050d854907"/>
    <p:sldId xmlns:r="http://schemas.openxmlformats.org/officeDocument/2006/relationships" id="257" r:id="R58fa6b05ca324712"/>
    <p:sldId xmlns:r="http://schemas.openxmlformats.org/officeDocument/2006/relationships" id="258" r:id="Rfe9f586d71164344"/>
    <p:sldId xmlns:r="http://schemas.openxmlformats.org/officeDocument/2006/relationships" id="259" r:id="R4fad1c9b5f9244fc"/>
    <p:sldId xmlns:r="http://schemas.openxmlformats.org/officeDocument/2006/relationships" id="260" r:id="R815333ee87d1401a"/>
    <p:sldId xmlns:r="http://schemas.openxmlformats.org/officeDocument/2006/relationships" id="261" r:id="Rc51cc721e8c840e1"/>
    <p:sldId xmlns:r="http://schemas.openxmlformats.org/officeDocument/2006/relationships" id="262" r:id="Rbee3e0f227604e32"/>
    <p:sldId xmlns:r="http://schemas.openxmlformats.org/officeDocument/2006/relationships" id="263" r:id="R1b44ed48e2da4557"/>
    <p:sldId xmlns:r="http://schemas.openxmlformats.org/officeDocument/2006/relationships" id="264" r:id="Re99ba5a895434c7f"/>
    <p:sldId xmlns:r="http://schemas.openxmlformats.org/officeDocument/2006/relationships" id="265" r:id="Ra547d4ed80454f1c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7905afa871416e" /><Relationship Type="http://schemas.openxmlformats.org/officeDocument/2006/relationships/slideMaster" Target="/ppt/slideMasters/slideMaster1.xml" Id="R3011b8c30b864bc5" /><Relationship Type="http://schemas.openxmlformats.org/officeDocument/2006/relationships/notesMaster" Target="/ppt/notesMasters/notesMaster1.xml" Id="Raebe9a58f46c4130" /><Relationship Type="http://schemas.openxmlformats.org/officeDocument/2006/relationships/presProps" Target="/ppt/presProps.xml" Id="Rc5ba1adceefa4383" /><Relationship Type="http://schemas.openxmlformats.org/officeDocument/2006/relationships/tableStyles" Target="/ppt/tableStyles.xml" Id="Rff17839d1ec049a8" /><Relationship Type="http://schemas.openxmlformats.org/officeDocument/2006/relationships/slide" Target="/ppt/slides/slide1.xml" Id="R9aaaa9050d854907" /><Relationship Type="http://schemas.openxmlformats.org/officeDocument/2006/relationships/slide" Target="/ppt/slides/slide2.xml" Id="R58fa6b05ca324712" /><Relationship Type="http://schemas.openxmlformats.org/officeDocument/2006/relationships/slide" Target="/ppt/slides/slide3.xml" Id="Rfe9f586d71164344" /><Relationship Type="http://schemas.openxmlformats.org/officeDocument/2006/relationships/slide" Target="/ppt/slides/slide4.xml" Id="R4fad1c9b5f9244fc" /><Relationship Type="http://schemas.openxmlformats.org/officeDocument/2006/relationships/slide" Target="/ppt/slides/slide5.xml" Id="R815333ee87d1401a" /><Relationship Type="http://schemas.openxmlformats.org/officeDocument/2006/relationships/slide" Target="/ppt/slides/slide6.xml" Id="Rc51cc721e8c840e1" /><Relationship Type="http://schemas.openxmlformats.org/officeDocument/2006/relationships/slide" Target="/ppt/slides/slide7.xml" Id="Rbee3e0f227604e32" /><Relationship Type="http://schemas.openxmlformats.org/officeDocument/2006/relationships/slide" Target="/ppt/slides/slide8.xml" Id="R1b44ed48e2da4557" /><Relationship Type="http://schemas.openxmlformats.org/officeDocument/2006/relationships/slide" Target="/ppt/slides/slide9.xml" Id="Re99ba5a895434c7f" /><Relationship Type="http://schemas.openxmlformats.org/officeDocument/2006/relationships/slide" Target="/ppt/slides/slide10.xml" Id="Ra547d4ed80454f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8e0204d09d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aafa9bd394871" /><Relationship Type="http://schemas.openxmlformats.org/officeDocument/2006/relationships/notesMaster" Target="/ppt/notesMasters/notesMaster1.xml" Id="Rd3b816aafc49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36afe4e3ad4a3f" /><Relationship Type="http://schemas.openxmlformats.org/officeDocument/2006/relationships/notesMaster" Target="/ppt/notesMasters/notesMaster1.xml" Id="R05318d6bf7e5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f2973117548e5" /><Relationship Type="http://schemas.openxmlformats.org/officeDocument/2006/relationships/notesMaster" Target="/ppt/notesMasters/notesMaster1.xml" Id="R371ca0841333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19c4c847a4f05" /><Relationship Type="http://schemas.openxmlformats.org/officeDocument/2006/relationships/notesMaster" Target="/ppt/notesMasters/notesMaster1.xml" Id="R34a81f0c172e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db22227974581" /><Relationship Type="http://schemas.openxmlformats.org/officeDocument/2006/relationships/notesMaster" Target="/ppt/notesMasters/notesMaster1.xml" Id="R76b7c24c2e8b4a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cdda958104149" /><Relationship Type="http://schemas.openxmlformats.org/officeDocument/2006/relationships/notesMaster" Target="/ppt/notesMasters/notesMaster1.xml" Id="R9755148ce16b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538921346a4863" /><Relationship Type="http://schemas.openxmlformats.org/officeDocument/2006/relationships/notesMaster" Target="/ppt/notesMasters/notesMaster1.xml" Id="Rd001a354713541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a612d397de43c4" /><Relationship Type="http://schemas.openxmlformats.org/officeDocument/2006/relationships/notesMaster" Target="/ppt/notesMasters/notesMaster1.xml" Id="R15b7d16d2ee64f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8b0c74b1c4343" /><Relationship Type="http://schemas.openxmlformats.org/officeDocument/2006/relationships/notesMaster" Target="/ppt/notesMasters/notesMaster1.xml" Id="Raf45a5bed9dc4f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31e267844d441d" /><Relationship Type="http://schemas.openxmlformats.org/officeDocument/2006/relationships/notesMaster" Target="/ppt/notesMasters/notesMaster1.xml" Id="R102008ff9541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deck as a short introduction to the live dashboard demonstration. Emphasize that the review covers a working prototype using synthetic and aliased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YvY_Capital_Inteli_Sprint_2_Presentation_Template.pptx.pdf (cover composition and photograph)</a:t>
            </a:r>
          </a:p>
          <a:p xmlns:a="http://schemas.openxmlformats.org/drawingml/2006/main">
            <a:r>
              <a:t>- Official Inteli and YvY Capital logo images supplied with the task</a:t>
            </a:r>
          </a:p>
          <a:p xmlns:a="http://schemas.openxmlformats.org/drawingml/2006/main">
            <a:r>
              <a:t>- Current translated Funds Manager 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expectation that this is a five-to-seven-minute orientation. The dashboard demonstration follows immediately after slide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translated Funds Manager dashboard</a:t>
            </a:r>
          </a:p>
          <a:p xmlns:a="http://schemas.openxmlformats.org/drawingml/2006/main">
            <a:r>
              <a:t>- Sprint_2_W1_Progress_Report_Inteli_YvY_Capital.pdf</a:t>
            </a:r>
          </a:p>
          <a:p xmlns:a="http://schemas.openxmlformats.org/drawingml/2006/main">
            <a:r>
              <a:t>- YvY_Capital_Inteli_Sprint_2_Presentation_Template.pptx.pdf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Sprint 2 reduces ambiguity before deeper implementation. The interface is functional for review, but it is not a production application and does not imply partner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- 2026_TAPI_YvY_Capital_Inteli_ENGLISH.docx</a:t>
            </a:r>
          </a:p>
          <a:p xmlns:a="http://schemas.openxmlformats.org/drawingml/2006/main">
            <a:r>
              <a:t>- Sprint_1_Delivery_Roadmap_Inteli_YvY_Capital.pdf</a:t>
            </a:r>
          </a:p>
          <a:p xmlns:a="http://schemas.openxmlformats.org/drawingml/2006/main">
            <a:r>
              <a:t>- Sprint_2_W1_Progress_Report_Inteli_YvY_Capital.pdf</a:t>
            </a:r>
          </a:p>
          <a:p xmlns:a="http://schemas.openxmlformats.org/drawingml/2006/main">
            <a:r>
              <a:t>- Current translated Funds Manager 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two priority audiences. Executives explore portfolio signals; Analysts review quality, validation and traceability. The role selector in the prototype changes the journey, not production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- 2026_TAPI_YvY_Capital_Inteli_ENGLISH.docx</a:t>
            </a:r>
          </a:p>
          <a:p xmlns:a="http://schemas.openxmlformats.org/drawingml/2006/main">
            <a:r>
              <a:t>- Special Projects -4o year.docx</a:t>
            </a:r>
          </a:p>
          <a:p xmlns:a="http://schemas.openxmlformats.org/drawingml/2006/main">
            <a:r>
              <a:t>- FEATURE_GUIDE.pdf</a:t>
            </a:r>
          </a:p>
          <a:p xmlns:a="http://schemas.openxmlformats.org/drawingml/2006/main">
            <a:r>
              <a:t>- Current translated Funds Manager 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transition naturally to the live demo. Walk the Executive lane first, then mention the Analyst lane and its local synthetic publication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translated Funds Manager dashboard</a:t>
            </a:r>
          </a:p>
          <a:p xmlns:a="http://schemas.openxmlformats.org/drawingml/2006/main">
            <a:r>
              <a:t>- FEATURE_GUIDE.pdf</a:t>
            </a:r>
          </a:p>
          <a:p xmlns:a="http://schemas.openxmlformats.org/drawingml/2006/main">
            <a:r>
              <a:t>- Sprint_2_W1_Progress_Report_Inteli_YvY_Capital.pdf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brief. Point to filters, the allocation-to-holdings interaction and data-quality states, then move directly into the live demonstration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translated Funds Manager dashboard, captured locally on August 22, 2026</a:t>
            </a:r>
          </a:p>
          <a:p xmlns:a="http://schemas.openxmlformats.org/drawingml/2006/main">
            <a:r>
              <a:t>- Screens shown: Executive Overview, Allocation and Data 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scope metrics to show that the prototype is substantial while remaining transparent about data maturity. Do not present sample KPI values as certified portfolio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translated Funds Manager dashboard</a:t>
            </a:r>
          </a:p>
          <a:p xmlns:a="http://schemas.openxmlformats.org/drawingml/2006/main">
            <a:r>
              <a:t>- DATA_DICTIONARY.pdf</a:t>
            </a:r>
          </a:p>
          <a:p xmlns:a="http://schemas.openxmlformats.org/drawingml/2006/main">
            <a:r>
              <a:t>- FEATURE_GUIDE.pdf</a:t>
            </a:r>
          </a:p>
          <a:p xmlns:a="http://schemas.openxmlformats.org/drawingml/2006/main">
            <a:r>
              <a:t>- Sprint 2 KPI catalogue and serving contract</a:t>
            </a:r>
          </a:p>
          <a:p xmlns:a="http://schemas.openxmlformats.org/drawingml/2006/main">
            <a:r>
              <a:t>- Sprint_2_W1_Progress_Report_Inteli_YvY_Capital.pdf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in one sentence: source exports are intended to become governed curated outputs before the application reads them. Today, the dashboard consumes a synthetic Serving contract and the pipeline is a local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- 2026_TAPI_YvY_Capital_Inteli_ENGLISH.docx</a:t>
            </a:r>
          </a:p>
          <a:p xmlns:a="http://schemas.openxmlformats.org/drawingml/2006/main">
            <a:r>
              <a:t>- Plan_interne_YvY_Capital_Sprints1_5.pdf</a:t>
            </a:r>
          </a:p>
          <a:p xmlns:a="http://schemas.openxmlformats.org/drawingml/2006/main">
            <a:r>
              <a:t>- Sprint 2 architecture.md and contracts</a:t>
            </a:r>
          </a:p>
          <a:p xmlns:a="http://schemas.openxmlformats.org/drawingml/2006/main">
            <a:r>
              <a:t>- Sprint_2_W1_Progress_Report_Inteli_YvY_Capital.pdf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Sprint 3 as the transition from documented rules and local proofs to a repeatable pipeline. These capabilities are planned and are not represented as visible in the current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Plan_interne_YvY_Capital_Sprints1_5.pdf</a:t>
            </a:r>
          </a:p>
          <a:p xmlns:a="http://schemas.openxmlformats.org/drawingml/2006/main">
            <a:r>
              <a:t>- Sprint 2 backlog_sprint3.md</a:t>
            </a:r>
          </a:p>
          <a:p xmlns:a="http://schemas.openxmlformats.org/drawingml/2006/main">
            <a:r>
              <a:t>- Sprint 2 architecture.md</a:t>
            </a:r>
          </a:p>
          <a:p xmlns:a="http://schemas.openxmlformats.org/drawingml/2006/main">
            <a:r>
              <a:t>- Sprint 2 source_matrix.md</a:t>
            </a:r>
          </a:p>
          <a:p xmlns:a="http://schemas.openxmlformats.org/drawingml/2006/main">
            <a:r>
              <a:t>- Sprint_2_W1_Progress_Report_Inteli_YvY_Capital.pdf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concrete next checkpoint rather than a generic thank-you. Ask for the partner decisions that unblock source access, KPI conventions, thresholds and the application alpha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Plan_interne_YvY_Capital_Sprints1_5.pdf</a:t>
            </a:r>
          </a:p>
          <a:p xmlns:a="http://schemas.openxmlformats.org/drawingml/2006/main">
            <a:r>
              <a:t>- Sprint 2 backlog_sprint3.md</a:t>
            </a:r>
          </a:p>
          <a:p xmlns:a="http://schemas.openxmlformats.org/drawingml/2006/main">
            <a:r>
              <a:t>- Sprint_1_Delivery_Roadmap_Inteli_YvY_Capital.pdf</a:t>
            </a:r>
          </a:p>
          <a:p xmlns:a="http://schemas.openxmlformats.org/drawingml/2006/main">
            <a:r>
              <a:t>- Sprint_2_W1_Progress_Report_Inteli_YvY_Capital.pdf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c5c9054d241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01ae3e9c843ea" /><Relationship Type="http://schemas.openxmlformats.org/officeDocument/2006/relationships/slideLayout" Target="/ppt/slideLayouts/slideLayout1.xml" Id="R73451a9ef19e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51a9ef19e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ddc8ce3a24b5d" /><Relationship Type="http://schemas.openxmlformats.org/officeDocument/2006/relationships/image" Target="/ppt/media/image.png" Id="Rf2bb5ece7d8048de" /><Relationship Type="http://schemas.openxmlformats.org/officeDocument/2006/relationships/image" Target="/ppt/media/image2.png" Id="R7bd91a0c8a1b4564" /><Relationship Type="http://schemas.openxmlformats.org/officeDocument/2006/relationships/image" Target="/ppt/media/image3.png" Id="Rb821fb3361eb4f86" /><Relationship Type="http://schemas.openxmlformats.org/officeDocument/2006/relationships/notesSlide" Target="/ppt/notesSlides/notesSlide1.xml" Id="R9b3e916d3fae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e3ba995b49ba" /><Relationship Type="http://schemas.openxmlformats.org/officeDocument/2006/relationships/image" Target="/ppt/media/image4.png" Id="Rbacb05b4873a419b" /><Relationship Type="http://schemas.openxmlformats.org/officeDocument/2006/relationships/image" Target="/ppt/media/image5.png" Id="Rf8eee10711fc4993" /><Relationship Type="http://schemas.openxmlformats.org/officeDocument/2006/relationships/notesSlide" Target="/ppt/notesSlides/notesSlide2.xml" Id="R826de3f69a88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c4e971a414837" /><Relationship Type="http://schemas.openxmlformats.org/officeDocument/2006/relationships/image" Target="/ppt/media/image6.png" Id="Rc11df67805fd4150" /><Relationship Type="http://schemas.openxmlformats.org/officeDocument/2006/relationships/image" Target="/ppt/media/image7.png" Id="R2aeceed0c9734970" /><Relationship Type="http://schemas.openxmlformats.org/officeDocument/2006/relationships/notesSlide" Target="/ppt/notesSlides/notesSlide3.xml" Id="Rb231ba7c9134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daf7854da4e16" /><Relationship Type="http://schemas.openxmlformats.org/officeDocument/2006/relationships/image" Target="/ppt/media/image8.png" Id="R148d468b58214305" /><Relationship Type="http://schemas.openxmlformats.org/officeDocument/2006/relationships/image" Target="/ppt/media/image9.png" Id="R5f7c5c54a7ac4a6e" /><Relationship Type="http://schemas.openxmlformats.org/officeDocument/2006/relationships/notesSlide" Target="/ppt/notesSlides/notesSlide4.xml" Id="R084b6e1e297a4c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a6d0d9b95405e" /><Relationship Type="http://schemas.openxmlformats.org/officeDocument/2006/relationships/image" Target="/ppt/media/image10.png" Id="R19316e4532db4828" /><Relationship Type="http://schemas.openxmlformats.org/officeDocument/2006/relationships/image" Target="/ppt/media/image11.png" Id="Rd0ca933917ef46a5" /><Relationship Type="http://schemas.openxmlformats.org/officeDocument/2006/relationships/notesSlide" Target="/ppt/notesSlides/notesSlide5.xml" Id="R403f3c9dc958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89c5a172d41a3" /><Relationship Type="http://schemas.openxmlformats.org/officeDocument/2006/relationships/image" Target="/ppt/media/image12.png" Id="R7a080dc751ea4dbd" /><Relationship Type="http://schemas.openxmlformats.org/officeDocument/2006/relationships/image" Target="/ppt/media/image13.png" Id="Re8fe3ce33f6a466b" /><Relationship Type="http://schemas.openxmlformats.org/officeDocument/2006/relationships/image" Target="/ppt/media/image14.png" Id="Rc4be59645e33477a" /><Relationship Type="http://schemas.openxmlformats.org/officeDocument/2006/relationships/image" Target="/ppt/media/image15.png" Id="R6b309e5b53b549ed" /><Relationship Type="http://schemas.openxmlformats.org/officeDocument/2006/relationships/image" Target="/ppt/media/image16.png" Id="R0e7a805a4d69425c" /><Relationship Type="http://schemas.openxmlformats.org/officeDocument/2006/relationships/notesSlide" Target="/ppt/notesSlides/notesSlide6.xml" Id="R79c8531dec87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6a12670f4d2c" /><Relationship Type="http://schemas.openxmlformats.org/officeDocument/2006/relationships/image" Target="/ppt/media/image17.png" Id="R98738a38849942ae" /><Relationship Type="http://schemas.openxmlformats.org/officeDocument/2006/relationships/image" Target="/ppt/media/image18.png" Id="R7854ba45abde4c11" /><Relationship Type="http://schemas.openxmlformats.org/officeDocument/2006/relationships/notesSlide" Target="/ppt/notesSlides/notesSlide7.xml" Id="Refb234011ebf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ccb0867b4c5a" /><Relationship Type="http://schemas.openxmlformats.org/officeDocument/2006/relationships/image" Target="/ppt/media/image19.png" Id="R2eee221738bf4de1" /><Relationship Type="http://schemas.openxmlformats.org/officeDocument/2006/relationships/image" Target="/ppt/media/image20.png" Id="Rff2b05f5bf1b4c39" /><Relationship Type="http://schemas.openxmlformats.org/officeDocument/2006/relationships/notesSlide" Target="/ppt/notesSlides/notesSlide8.xml" Id="R5988f88f27e7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de1bf2c9c4f23" /><Relationship Type="http://schemas.openxmlformats.org/officeDocument/2006/relationships/image" Target="/ppt/media/image21.png" Id="R1c4cbab1f2f44a69" /><Relationship Type="http://schemas.openxmlformats.org/officeDocument/2006/relationships/image" Target="/ppt/media/image22.png" Id="Ra01f6cd8c0234a00" /><Relationship Type="http://schemas.openxmlformats.org/officeDocument/2006/relationships/notesSlide" Target="/ppt/notesSlides/notesSlide9.xml" Id="R8c58959bb49f40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232ca6f9c4b15" /><Relationship Type="http://schemas.openxmlformats.org/officeDocument/2006/relationships/image" Target="/ppt/media/image23.png" Id="Rc6d92a56d6c3444f" /><Relationship Type="http://schemas.openxmlformats.org/officeDocument/2006/relationships/image" Target="/ppt/media/image24.png" Id="R619e060bced34c7c" /><Relationship Type="http://schemas.openxmlformats.org/officeDocument/2006/relationships/notesSlide" Target="/ppt/notesSlides/notesSlide10.xml" Id="R62ef834fcc3440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b5ece7d8048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cover-dark-overlay">
            <a:extLst xmlns:a="http://schemas.openxmlformats.org/drawingml/2006/main">
              <a:ext uri="{FF2B5EF4-FFF2-40B4-BE49-F238E27FC236}">
                <a16:creationId xmlns:a16="http://schemas.microsoft.com/office/drawing/2014/main" id="{DF60C08C-99F3-4601-9AB3-F2CD824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10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order">
            <a:extLst xmlns:a="http://schemas.openxmlformats.org/drawingml/2006/main">
              <a:ext uri="{FF2B5EF4-FFF2-40B4-BE49-F238E27FC236}">
                <a16:creationId xmlns:a16="http://schemas.microsoft.com/office/drawing/2014/main" id="{9197DC04-003A-4C5F-85D6-FC165E80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3144500" cy="71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2DF4ACAA-DF54-42FF-80E8-6B8DB62E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1950"/>
            <a:ext cx="24955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91a0c8a1b4564"/>
          <a:stretch xmlns:a="http://schemas.openxmlformats.org/drawingml/2006/main"/>
        </p:blipFill>
        <p:spPr>
          <a:xfrm xmlns:a="http://schemas.openxmlformats.org/drawingml/2006/main">
            <a:off x="10730865" y="40005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6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1375C20E-F98D-4D8A-941B-B50CA56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4767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1fb3361eb4f86"/>
          <a:stretch xmlns:a="http://schemas.openxmlformats.org/drawingml/2006/main"/>
        </p:blipFill>
        <p:spPr>
          <a:xfrm xmlns:a="http://schemas.openxmlformats.org/drawingml/2006/main">
            <a:off x="11750146" y="40957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43BE84B-694F-4D0A-9954-88A91F2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FUNDS MANAGER</a:t>
            </a:r>
          </a:p>
        </p:txBody>
      </p:sp>
      <p:sp>
        <p:nvSpPr>
          <p:cNvPr id="9" name="cover-rule-left">
            <a:extLst xmlns:a="http://schemas.openxmlformats.org/drawingml/2006/main">
              <a:ext uri="{FF2B5EF4-FFF2-40B4-BE49-F238E27FC236}">
                <a16:creationId xmlns:a16="http://schemas.microsoft.com/office/drawing/2014/main" id="{9862090E-A14D-4594-AEFB-685F09A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rule-right">
            <a:extLst xmlns:a="http://schemas.openxmlformats.org/drawingml/2006/main">
              <a:ext uri="{FF2B5EF4-FFF2-40B4-BE49-F238E27FC236}">
                <a16:creationId xmlns:a16="http://schemas.microsoft.com/office/drawing/2014/main" id="{25A1C9BB-11AA-4851-B22D-6385B4DA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81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7CA872E-5107-4BDF-858E-89847EFD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005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YVY CAPITAL × INTELI — SPRINT 2</a:t>
            </a:r>
          </a:p>
        </p:txBody>
      </p:sp>
      <p:sp>
        <p:nvSpPr>
          <p:cNvPr id="12" name="cover-review">
            <a:extLst xmlns:a="http://schemas.openxmlformats.org/drawingml/2006/main">
              <a:ext uri="{FF2B5EF4-FFF2-40B4-BE49-F238E27FC236}">
                <a16:creationId xmlns:a16="http://schemas.microsoft.com/office/drawing/2014/main" id="{A4EEC56B-46E8-4053-B214-86B2DBE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E1DDE8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E1DDE8"/>
                </a:solidFill>
                <a:latin typeface="Manrope"/>
                <a:ea typeface="Manrope"/>
                <a:cs typeface="Manrope"/>
              </a:rPr>
              <a:t>Dashboard Prototype Review</a:t>
            </a:r>
          </a:p>
        </p:txBody>
      </p:sp>
      <p:sp>
        <p:nvSpPr>
          <p:cNvPr id="13" name="cover-date">
            <a:extLst xmlns:a="http://schemas.openxmlformats.org/drawingml/2006/main">
              <a:ext uri="{FF2B5EF4-FFF2-40B4-BE49-F238E27FC236}">
                <a16:creationId xmlns:a16="http://schemas.microsoft.com/office/drawing/2014/main" id="{00E0671B-24AE-459B-9488-59B97BB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91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4D0D9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D4D0D9"/>
                </a:solidFill>
                <a:latin typeface="Manrope"/>
                <a:ea typeface="Manrope"/>
                <a:cs typeface="Manrope"/>
              </a:rPr>
              <a:t>AUGUST 22, 2026</a:t>
            </a:r>
          </a:p>
        </p:txBody>
      </p:sp>
    </p:spTree>
    <p:extLst>
      <p:ext uri="{BB962C8B-B14F-4D97-AF65-F5344CB8AC3E}">
        <p14:creationId xmlns:p14="http://schemas.microsoft.com/office/powerpoint/2010/main" val="1812046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805D2E-246E-47D4-8BB1-91B8F74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TODAY'S REVIEW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EC6DC2-2E6C-42B2-8799-9E866896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A concise path from Sprint 2 intent to the live demonstration.</a:t>
            </a:r>
          </a:p>
        </p:txBody>
      </p:sp>
      <p:sp>
        <p:nvSpPr>
          <p:cNvPr id="3" name="agenda-count">
            <a:extLst xmlns:a="http://schemas.openxmlformats.org/drawingml/2006/main">
              <a:ext uri="{FF2B5EF4-FFF2-40B4-BE49-F238E27FC236}">
                <a16:creationId xmlns:a16="http://schemas.microsoft.com/office/drawing/2014/main" id="{E26F10A5-A03A-4483-9E01-07D1E4B3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87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4" name="agenda-count-caption">
            <a:extLst xmlns:a="http://schemas.openxmlformats.org/drawingml/2006/main">
              <a:ext uri="{FF2B5EF4-FFF2-40B4-BE49-F238E27FC236}">
                <a16:creationId xmlns:a16="http://schemas.microsoft.com/office/drawing/2014/main" id="{D5AEC3D5-0B43-4088-BF20-7709265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202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review moments</a:t>
            </a:r>
          </a:p>
        </p:txBody>
      </p:sp>
      <p:sp>
        <p:nvSpPr>
          <p:cNvPr id="5" name="agenda-vertical-rule">
            <a:extLst xmlns:a="http://schemas.openxmlformats.org/drawingml/2006/main">
              <a:ext uri="{FF2B5EF4-FFF2-40B4-BE49-F238E27FC236}">
                <a16:creationId xmlns:a16="http://schemas.microsoft.com/office/drawing/2014/main" id="{0802FD54-4050-47CE-BB21-B08F3206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da-index-1">
            <a:extLst xmlns:a="http://schemas.openxmlformats.org/drawingml/2006/main">
              <a:ext uri="{FF2B5EF4-FFF2-40B4-BE49-F238E27FC236}">
                <a16:creationId xmlns:a16="http://schemas.microsoft.com/office/drawing/2014/main" id="{375BA830-81C1-4F72-AA4A-2FE7966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agenda-label-1">
            <a:extLst xmlns:a="http://schemas.openxmlformats.org/drawingml/2006/main">
              <a:ext uri="{FF2B5EF4-FFF2-40B4-BE49-F238E27FC236}">
                <a16:creationId xmlns:a16="http://schemas.microsoft.com/office/drawing/2014/main" id="{633E6066-111E-4482-AC10-246A731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Sprint 2 objective</a:t>
            </a:r>
          </a:p>
        </p:txBody>
      </p:sp>
      <p:sp>
        <p:nvSpPr>
          <p:cNvPr id="8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9C186B09-B7A7-444C-8F11-FE0DE63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genda-index-2">
            <a:extLst xmlns:a="http://schemas.openxmlformats.org/drawingml/2006/main">
              <a:ext uri="{FF2B5EF4-FFF2-40B4-BE49-F238E27FC236}">
                <a16:creationId xmlns:a16="http://schemas.microsoft.com/office/drawing/2014/main" id="{4385EDA9-CCB7-43A2-891A-053DEEF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19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agenda-label-2">
            <a:extLst xmlns:a="http://schemas.openxmlformats.org/drawingml/2006/main">
              <a:ext uri="{FF2B5EF4-FFF2-40B4-BE49-F238E27FC236}">
                <a16:creationId xmlns:a16="http://schemas.microsoft.com/office/drawing/2014/main" id="{D3D9BE51-FE28-4FF8-8B1F-6D550591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Priority users and use cases</a:t>
            </a:r>
          </a:p>
        </p:txBody>
      </p:sp>
      <p:sp>
        <p:nvSpPr>
          <p:cNvPr id="11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78BBC5FB-9FA9-4F39-82FE-8B25027B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67100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index-3">
            <a:extLst xmlns:a="http://schemas.openxmlformats.org/drawingml/2006/main">
              <a:ext uri="{FF2B5EF4-FFF2-40B4-BE49-F238E27FC236}">
                <a16:creationId xmlns:a16="http://schemas.microsoft.com/office/drawing/2014/main" id="{4EB7F193-CCF6-4694-B32A-5359E2E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76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agenda-label-3">
            <a:extLst xmlns:a="http://schemas.openxmlformats.org/drawingml/2006/main">
              <a:ext uri="{FF2B5EF4-FFF2-40B4-BE49-F238E27FC236}">
                <a16:creationId xmlns:a16="http://schemas.microsoft.com/office/drawing/2014/main" id="{8A5F1E81-C2CA-4927-B087-C368C79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480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Product flow</a:t>
            </a:r>
          </a:p>
        </p:txBody>
      </p:sp>
      <p:sp>
        <p:nvSpPr>
          <p:cNvPr id="14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36F6EE34-CC1A-4FF8-98A3-1295BEB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24325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index-4">
            <a:extLst xmlns:a="http://schemas.openxmlformats.org/drawingml/2006/main">
              <a:ext uri="{FF2B5EF4-FFF2-40B4-BE49-F238E27FC236}">
                <a16:creationId xmlns:a16="http://schemas.microsoft.com/office/drawing/2014/main" id="{181D9378-773F-4C3B-970D-B78FCF2F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33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agenda-label-4">
            <a:extLst xmlns:a="http://schemas.openxmlformats.org/drawingml/2006/main">
              <a:ext uri="{FF2B5EF4-FFF2-40B4-BE49-F238E27FC236}">
                <a16:creationId xmlns:a16="http://schemas.microsoft.com/office/drawing/2014/main" id="{E82DC62E-2EC7-4453-853D-1F318359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053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Dashboard preview</a:t>
            </a:r>
          </a:p>
        </p:txBody>
      </p:sp>
      <p:sp>
        <p:nvSpPr>
          <p:cNvPr id="17" name="agenda-rule-4">
            <a:extLst xmlns:a="http://schemas.openxmlformats.org/drawingml/2006/main">
              <a:ext uri="{FF2B5EF4-FFF2-40B4-BE49-F238E27FC236}">
                <a16:creationId xmlns:a16="http://schemas.microsoft.com/office/drawing/2014/main" id="{8D6559BD-F203-4B18-82B9-D3F0DC8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81550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genda-index-5">
            <a:extLst xmlns:a="http://schemas.openxmlformats.org/drawingml/2006/main">
              <a:ext uri="{FF2B5EF4-FFF2-40B4-BE49-F238E27FC236}">
                <a16:creationId xmlns:a16="http://schemas.microsoft.com/office/drawing/2014/main" id="{320634D1-4888-4DA3-90AA-0CF6D7EA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91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9" name="agenda-label-5">
            <a:extLst xmlns:a="http://schemas.openxmlformats.org/drawingml/2006/main">
              <a:ext uri="{FF2B5EF4-FFF2-40B4-BE49-F238E27FC236}">
                <a16:creationId xmlns:a16="http://schemas.microsoft.com/office/drawing/2014/main" id="{14F5295A-5B83-49A8-9ED9-01F68E59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625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Current data and KPI coverage</a:t>
            </a:r>
          </a:p>
        </p:txBody>
      </p:sp>
      <p:sp>
        <p:nvSpPr>
          <p:cNvPr id="20" name="agenda-rule-5">
            <a:extLst xmlns:a="http://schemas.openxmlformats.org/drawingml/2006/main">
              <a:ext uri="{FF2B5EF4-FFF2-40B4-BE49-F238E27FC236}">
                <a16:creationId xmlns:a16="http://schemas.microsoft.com/office/drawing/2014/main" id="{4EA00846-9C87-406E-97DF-82DA0CE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38775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genda-index-6">
            <a:extLst xmlns:a="http://schemas.openxmlformats.org/drawingml/2006/main">
              <a:ext uri="{FF2B5EF4-FFF2-40B4-BE49-F238E27FC236}">
                <a16:creationId xmlns:a16="http://schemas.microsoft.com/office/drawing/2014/main" id="{521F3351-5953-4422-AF89-80EB923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48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2" name="agenda-label-6">
            <a:extLst xmlns:a="http://schemas.openxmlformats.org/drawingml/2006/main">
              <a:ext uri="{FF2B5EF4-FFF2-40B4-BE49-F238E27FC236}">
                <a16:creationId xmlns:a16="http://schemas.microsoft.com/office/drawing/2014/main" id="{B288E93E-31B9-4BA6-8DF3-16F485B8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197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Sprint 3 next features</a:t>
            </a:r>
          </a:p>
        </p:txBody>
      </p:sp>
      <p:sp>
        <p:nvSpPr>
          <p:cNvPr id="23" name="agenda-rule-6">
            <a:extLst xmlns:a="http://schemas.openxmlformats.org/drawingml/2006/main">
              <a:ext uri="{FF2B5EF4-FFF2-40B4-BE49-F238E27FC236}">
                <a16:creationId xmlns:a16="http://schemas.microsoft.com/office/drawing/2014/main" id="{089EB3B2-4A0D-4251-AF71-3597DA74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96000"/>
            <a:ext cx="823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-number-top-2">
            <a:extLst xmlns:a="http://schemas.openxmlformats.org/drawingml/2006/main">
              <a:ext uri="{FF2B5EF4-FFF2-40B4-BE49-F238E27FC236}">
                <a16:creationId xmlns:a16="http://schemas.microsoft.com/office/drawing/2014/main" id="{D50F1AC5-A8B2-44D9-9454-E9F8FF8B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5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785882A9-8873-4752-8655-784EFC3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SPRINT 2 REVIEW</a:t>
            </a:r>
          </a:p>
        </p:txBody>
      </p:sp>
      <p:sp>
        <p:nvSpPr>
          <p:cNvPr id="26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80083EF3-8659-4B4E-9E3E-5561556E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b05b4873a419b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28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27C06ECD-DB7E-4288-AE27-A5AD80B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ee10711fc4993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3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2286437-FE3F-4C94-8EB5-E59A5083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copy-2">
            <a:extLst xmlns:a="http://schemas.openxmlformats.org/drawingml/2006/main">
              <a:ext uri="{FF2B5EF4-FFF2-40B4-BE49-F238E27FC236}">
                <a16:creationId xmlns:a16="http://schemas.microsoft.com/office/drawing/2014/main" id="{7AB68DA9-A6A6-4891-85E6-E2D5DECC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3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C883400-48D1-49AC-99D1-197F77F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1127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8DEC73-5492-448C-8543-5A0EE33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SPRINT 2 MADE THE PRODUCT DIRECTION TESTABLE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EF9A63-3C10-4125-93B8-D394288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Validated needs became an interactive dashboard baseline.</a:t>
            </a:r>
          </a:p>
        </p:txBody>
      </p:sp>
      <p:sp>
        <p:nvSpPr>
          <p:cNvPr id="3" name="objective-kicker">
            <a:extLst xmlns:a="http://schemas.openxmlformats.org/drawingml/2006/main">
              <a:ext uri="{FF2B5EF4-FFF2-40B4-BE49-F238E27FC236}">
                <a16:creationId xmlns:a16="http://schemas.microsoft.com/office/drawing/2014/main" id="{B0E7CACB-DE49-4E0F-9767-148CB16D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PRIMARY OBJECTIVE</a:t>
            </a:r>
          </a:p>
        </p:txBody>
      </p:sp>
      <p:sp>
        <p:nvSpPr>
          <p:cNvPr id="4" name="objective-statement">
            <a:extLst xmlns:a="http://schemas.openxmlformats.org/drawingml/2006/main">
              <a:ext uri="{FF2B5EF4-FFF2-40B4-BE49-F238E27FC236}">
                <a16:creationId xmlns:a16="http://schemas.microsoft.com/office/drawing/2014/main" id="{750857EA-247B-4E05-A825-568EDA72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 i="1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925" b="0" i="1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Turn product needs into a reviewable interface before production development begins.</a:t>
            </a:r>
          </a:p>
        </p:txBody>
      </p:sp>
      <p:sp>
        <p:nvSpPr>
          <p:cNvPr id="5" name="objective-value">
            <a:extLst xmlns:a="http://schemas.openxmlformats.org/drawingml/2006/main">
              <a:ext uri="{FF2B5EF4-FFF2-40B4-BE49-F238E27FC236}">
                <a16:creationId xmlns:a16="http://schemas.microsoft.com/office/drawing/2014/main" id="{8DE9A869-9F78-4658-8AD9-99333C8C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The result is a shared baseline for partner feedback, acceptance criteria and the Sprint 3 backlog.</a:t>
            </a:r>
          </a:p>
        </p:txBody>
      </p:sp>
      <p:sp>
        <p:nvSpPr>
          <p:cNvPr id="6" name="scope-vertical-rule">
            <a:extLst xmlns:a="http://schemas.openxmlformats.org/drawingml/2006/main">
              <a:ext uri="{FF2B5EF4-FFF2-40B4-BE49-F238E27FC236}">
                <a16:creationId xmlns:a16="http://schemas.microsoft.com/office/drawing/2014/main" id="{7FD04D7C-5DBF-4082-BE8D-A223406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in-title">
            <a:extLst xmlns:a="http://schemas.openxmlformats.org/drawingml/2006/main">
              <a:ext uri="{FF2B5EF4-FFF2-40B4-BE49-F238E27FC236}">
                <a16:creationId xmlns:a16="http://schemas.microsoft.com/office/drawing/2014/main" id="{0BA4E944-A534-4BED-9FA3-7A411D5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43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IN SCOPE</a:t>
            </a:r>
          </a:p>
        </p:txBody>
      </p:sp>
      <p:sp>
        <p:nvSpPr>
          <p:cNvPr id="8" name="scope-in-1-mark">
            <a:extLst xmlns:a="http://schemas.openxmlformats.org/drawingml/2006/main">
              <a:ext uri="{FF2B5EF4-FFF2-40B4-BE49-F238E27FC236}">
                <a16:creationId xmlns:a16="http://schemas.microsoft.com/office/drawing/2014/main" id="{E5C4298F-45A3-40BD-97AB-96622F0B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03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9" name="scope-in-1">
            <a:extLst xmlns:a="http://schemas.openxmlformats.org/drawingml/2006/main">
              <a:ext uri="{FF2B5EF4-FFF2-40B4-BE49-F238E27FC236}">
                <a16:creationId xmlns:a16="http://schemas.microsoft.com/office/drawing/2014/main" id="{D57537DF-ECC0-4BE6-ABD0-3B55BE7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003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Nine live dashboard sections</a:t>
            </a:r>
          </a:p>
        </p:txBody>
      </p:sp>
      <p:sp>
        <p:nvSpPr>
          <p:cNvPr id="10" name="scope-in-2-mark">
            <a:extLst xmlns:a="http://schemas.openxmlformats.org/drawingml/2006/main">
              <a:ext uri="{FF2B5EF4-FFF2-40B4-BE49-F238E27FC236}">
                <a16:creationId xmlns:a16="http://schemas.microsoft.com/office/drawing/2014/main" id="{C6B75C42-1D58-42DB-861E-4DF234B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0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1" name="scope-in-2">
            <a:extLst xmlns:a="http://schemas.openxmlformats.org/drawingml/2006/main">
              <a:ext uri="{FF2B5EF4-FFF2-40B4-BE49-F238E27FC236}">
                <a16:creationId xmlns:a16="http://schemas.microsoft.com/office/drawing/2014/main" id="{09327330-5878-48AC-B228-685D4C1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004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Executive and Analyst journeys</a:t>
            </a:r>
          </a:p>
        </p:txBody>
      </p:sp>
      <p:sp>
        <p:nvSpPr>
          <p:cNvPr id="12" name="scope-in-3-mark">
            <a:extLst xmlns:a="http://schemas.openxmlformats.org/drawingml/2006/main">
              <a:ext uri="{FF2B5EF4-FFF2-40B4-BE49-F238E27FC236}">
                <a16:creationId xmlns:a16="http://schemas.microsoft.com/office/drawing/2014/main" id="{4F80A2B1-0594-42F2-95CF-9F73FB3A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00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3" name="scope-in-3">
            <a:extLst xmlns:a="http://schemas.openxmlformats.org/drawingml/2006/main">
              <a:ext uri="{FF2B5EF4-FFF2-40B4-BE49-F238E27FC236}">
                <a16:creationId xmlns:a16="http://schemas.microsoft.com/office/drawing/2014/main" id="{763CF36F-2648-416E-85DD-EC2E623E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004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Responsive interactions and demo states</a:t>
            </a:r>
          </a:p>
        </p:txBody>
      </p:sp>
      <p:sp>
        <p:nvSpPr>
          <p:cNvPr id="14" name="scope-rule-1">
            <a:extLst xmlns:a="http://schemas.openxmlformats.org/drawingml/2006/main">
              <a:ext uri="{FF2B5EF4-FFF2-40B4-BE49-F238E27FC236}">
                <a16:creationId xmlns:a16="http://schemas.microsoft.com/office/drawing/2014/main" id="{2D6F2C2C-0AF4-4F4E-BDE1-B9F5B9EE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57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pe-out-title">
            <a:extLst xmlns:a="http://schemas.openxmlformats.org/drawingml/2006/main">
              <a:ext uri="{FF2B5EF4-FFF2-40B4-BE49-F238E27FC236}">
                <a16:creationId xmlns:a16="http://schemas.microsoft.com/office/drawing/2014/main" id="{5C16079C-5F1B-41EE-AA83-97C357A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05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OUT OF SCOPE TODAY</a:t>
            </a:r>
          </a:p>
        </p:txBody>
      </p:sp>
      <p:sp>
        <p:nvSpPr>
          <p:cNvPr id="16" name="scope-out-body">
            <a:extLst xmlns:a="http://schemas.openxmlformats.org/drawingml/2006/main">
              <a:ext uri="{FF2B5EF4-FFF2-40B4-BE49-F238E27FC236}">
                <a16:creationId xmlns:a16="http://schemas.microsoft.com/office/drawing/2014/main" id="{D46EE015-461D-470F-9F40-42B28A3A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958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Production connectors, certified financial calculations, authentication and enforced RBAC.</a:t>
            </a:r>
          </a:p>
        </p:txBody>
      </p:sp>
      <p:sp>
        <p:nvSpPr>
          <p:cNvPr id="17" name="scope-rule-2">
            <a:extLst xmlns:a="http://schemas.openxmlformats.org/drawingml/2006/main">
              <a:ext uri="{FF2B5EF4-FFF2-40B4-BE49-F238E27FC236}">
                <a16:creationId xmlns:a16="http://schemas.microsoft.com/office/drawing/2014/main" id="{EBD9D0C7-B4AA-47C1-814B-0B3A2A6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pe-success-title">
            <a:extLst xmlns:a="http://schemas.openxmlformats.org/drawingml/2006/main">
              <a:ext uri="{FF2B5EF4-FFF2-40B4-BE49-F238E27FC236}">
                <a16:creationId xmlns:a16="http://schemas.microsoft.com/office/drawing/2014/main" id="{95490BC3-C7A2-4E0E-8FE9-B716A689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6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EXIT EVIDENCE</a:t>
            </a:r>
          </a:p>
        </p:txBody>
      </p:sp>
      <p:sp>
        <p:nvSpPr>
          <p:cNvPr id="19" name="scope-success-body">
            <a:extLst xmlns:a="http://schemas.openxmlformats.org/drawingml/2006/main">
              <a:ext uri="{FF2B5EF4-FFF2-40B4-BE49-F238E27FC236}">
                <a16:creationId xmlns:a16="http://schemas.microsoft.com/office/drawing/2014/main" id="{58AB1F5C-16B1-40D5-8E24-0157C4D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1055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A partner-reviewable prototype and a Sprint 3 backlog grounded in verified behavior.</a:t>
            </a:r>
          </a:p>
        </p:txBody>
      </p:sp>
      <p:sp>
        <p:nvSpPr>
          <p:cNvPr id="20" name="page-number-top-3">
            <a:extLst xmlns:a="http://schemas.openxmlformats.org/drawingml/2006/main">
              <a:ext uri="{FF2B5EF4-FFF2-40B4-BE49-F238E27FC236}">
                <a16:creationId xmlns:a16="http://schemas.microsoft.com/office/drawing/2014/main" id="{B25C5BBA-8EEB-4887-9AA6-7A1BBFD0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1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9EA7EAD2-6CEE-4447-8B14-40F60B8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SPRINT 2 REVIEW</a:t>
            </a:r>
          </a:p>
        </p:txBody>
      </p:sp>
      <p:sp>
        <p:nvSpPr>
          <p:cNvPr id="22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C0416D50-CE5F-40F5-88C9-860CC5BA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df67805fd4150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24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D6E36487-CC36-40BF-9F06-3C82CE4D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ceed0c9734970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2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1AA9AE7-78EA-4A08-8720-DE458944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copy-3">
            <a:extLst xmlns:a="http://schemas.openxmlformats.org/drawingml/2006/main">
              <a:ext uri="{FF2B5EF4-FFF2-40B4-BE49-F238E27FC236}">
                <a16:creationId xmlns:a16="http://schemas.microsoft.com/office/drawing/2014/main" id="{E2FD08AB-05F6-4D08-B513-2CAF075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2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FCEF55F-773B-42B2-B260-675629F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189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910951-18C9-43D1-8CA6-CB6F7B87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9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TWO USERS, TWO DECISION PATHS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B65059-E84F-471B-8C92-9273B0E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The prototype separates portfolio exploration from controlled data review.</a:t>
            </a:r>
          </a:p>
        </p:txBody>
      </p:sp>
      <p:sp>
        <p:nvSpPr>
          <p:cNvPr id="3" name="executive-panel">
            <a:extLst xmlns:a="http://schemas.openxmlformats.org/drawingml/2006/main">
              <a:ext uri="{FF2B5EF4-FFF2-40B4-BE49-F238E27FC236}">
                <a16:creationId xmlns:a16="http://schemas.microsoft.com/office/drawing/2014/main" id="{C4044986-7956-4744-B905-1007E6E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8293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4" name="analyst-panel">
            <a:extLst xmlns:a="http://schemas.openxmlformats.org/drawingml/2006/main">
              <a:ext uri="{FF2B5EF4-FFF2-40B4-BE49-F238E27FC236}">
                <a16:creationId xmlns:a16="http://schemas.microsoft.com/office/drawing/2014/main" id="{11A2A94C-C84A-483D-8A20-573382B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58293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5" name="executive-index">
            <a:extLst xmlns:a="http://schemas.openxmlformats.org/drawingml/2006/main">
              <a:ext uri="{FF2B5EF4-FFF2-40B4-BE49-F238E27FC236}">
                <a16:creationId xmlns:a16="http://schemas.microsoft.com/office/drawing/2014/main" id="{0471B35B-6FD2-432D-A2ED-60FCF14C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executive-title">
            <a:extLst xmlns:a="http://schemas.openxmlformats.org/drawingml/2006/main">
              <a:ext uri="{FF2B5EF4-FFF2-40B4-BE49-F238E27FC236}">
                <a16:creationId xmlns:a16="http://schemas.microsoft.com/office/drawing/2014/main" id="{181DDE82-28F5-424F-A94A-6EA5F68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EXECUTIVE / MANAGEMENT</a:t>
            </a:r>
          </a:p>
        </p:txBody>
      </p:sp>
      <p:sp>
        <p:nvSpPr>
          <p:cNvPr id="7" name="executive-purpose">
            <a:extLst xmlns:a="http://schemas.openxmlformats.org/drawingml/2006/main">
              <a:ext uri="{FF2B5EF4-FFF2-40B4-BE49-F238E27FC236}">
                <a16:creationId xmlns:a16="http://schemas.microsoft.com/office/drawing/2014/main" id="{AB4EBD5F-C11F-427D-9A1C-D8E83E1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Understand the portfolio before making a decision.</a:t>
            </a:r>
          </a:p>
        </p:txBody>
      </p:sp>
      <p:sp>
        <p:nvSpPr>
          <p:cNvPr id="8" name="executive-need-1-mark">
            <a:extLst xmlns:a="http://schemas.openxmlformats.org/drawingml/2006/main">
              <a:ext uri="{FF2B5EF4-FFF2-40B4-BE49-F238E27FC236}">
                <a16:creationId xmlns:a16="http://schemas.microsoft.com/office/drawing/2014/main" id="{0EA94FA9-8B75-4886-9A76-3C573DF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9" name="executive-need-1">
            <a:extLst xmlns:a="http://schemas.openxmlformats.org/drawingml/2006/main">
              <a:ext uri="{FF2B5EF4-FFF2-40B4-BE49-F238E27FC236}">
                <a16:creationId xmlns:a16="http://schemas.microsoft.com/office/drawing/2014/main" id="{F64EF4BA-EC4C-45F4-ACD4-E46AE009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Monitor portfolio and fund status</a:t>
            </a:r>
          </a:p>
        </p:txBody>
      </p:sp>
      <p:sp>
        <p:nvSpPr>
          <p:cNvPr id="10" name="executive-need-2-mark">
            <a:extLst xmlns:a="http://schemas.openxmlformats.org/drawingml/2006/main">
              <a:ext uri="{FF2B5EF4-FFF2-40B4-BE49-F238E27FC236}">
                <a16:creationId xmlns:a16="http://schemas.microsoft.com/office/drawing/2014/main" id="{8F7B10E5-5C73-437B-B99D-983B745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1" name="executive-need-2">
            <a:extLst xmlns:a="http://schemas.openxmlformats.org/drawingml/2006/main">
              <a:ext uri="{FF2B5EF4-FFF2-40B4-BE49-F238E27FC236}">
                <a16:creationId xmlns:a16="http://schemas.microsoft.com/office/drawing/2014/main" id="{D8C57BE2-5A09-4300-92A6-536B9E7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Explore allocation and holdings</a:t>
            </a:r>
          </a:p>
        </p:txBody>
      </p:sp>
      <p:sp>
        <p:nvSpPr>
          <p:cNvPr id="12" name="executive-need-3-mark">
            <a:extLst xmlns:a="http://schemas.openxmlformats.org/drawingml/2006/main">
              <a:ext uri="{FF2B5EF4-FFF2-40B4-BE49-F238E27FC236}">
                <a16:creationId xmlns:a16="http://schemas.microsoft.com/office/drawing/2014/main" id="{13FD8D4D-6A4E-4727-BCD5-394F85E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3" name="executive-need-3">
            <a:extLst xmlns:a="http://schemas.openxmlformats.org/drawingml/2006/main">
              <a:ext uri="{FF2B5EF4-FFF2-40B4-BE49-F238E27FC236}">
                <a16:creationId xmlns:a16="http://schemas.microsoft.com/office/drawing/2014/main" id="{4A6763F0-F8FF-438E-AE88-6E49FEF9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Review performance and comparisons</a:t>
            </a:r>
          </a:p>
        </p:txBody>
      </p:sp>
      <p:sp>
        <p:nvSpPr>
          <p:cNvPr id="14" name="analyst-index">
            <a:extLst xmlns:a="http://schemas.openxmlformats.org/drawingml/2006/main">
              <a:ext uri="{FF2B5EF4-FFF2-40B4-BE49-F238E27FC236}">
                <a16:creationId xmlns:a16="http://schemas.microsoft.com/office/drawing/2014/main" id="{34D85194-10B5-48B0-BD6A-AF582D74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5" name="analyst-title">
            <a:extLst xmlns:a="http://schemas.openxmlformats.org/drawingml/2006/main">
              <a:ext uri="{FF2B5EF4-FFF2-40B4-BE49-F238E27FC236}">
                <a16:creationId xmlns:a16="http://schemas.microsoft.com/office/drawing/2014/main" id="{B96173CB-9232-49F4-AAEA-81DF2C1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DATA / INVESTMENT ANALYST</a:t>
            </a:r>
          </a:p>
        </p:txBody>
      </p:sp>
      <p:sp>
        <p:nvSpPr>
          <p:cNvPr id="16" name="analyst-purpose">
            <a:extLst xmlns:a="http://schemas.openxmlformats.org/drawingml/2006/main">
              <a:ext uri="{FF2B5EF4-FFF2-40B4-BE49-F238E27FC236}">
                <a16:creationId xmlns:a16="http://schemas.microsoft.com/office/drawing/2014/main" id="{A0DE4673-E2ED-43D2-B62D-FDA3F10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9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Assess whether a data run can proceed safely.</a:t>
            </a:r>
          </a:p>
        </p:txBody>
      </p:sp>
      <p:sp>
        <p:nvSpPr>
          <p:cNvPr id="17" name="analyst-need-1-mark">
            <a:extLst xmlns:a="http://schemas.openxmlformats.org/drawingml/2006/main">
              <a:ext uri="{FF2B5EF4-FFF2-40B4-BE49-F238E27FC236}">
                <a16:creationId xmlns:a16="http://schemas.microsoft.com/office/drawing/2014/main" id="{CB69806F-D7A5-4A2A-B9F8-4B283518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8" name="analyst-need-1">
            <a:extLst xmlns:a="http://schemas.openxmlformats.org/drawingml/2006/main">
              <a:ext uri="{FF2B5EF4-FFF2-40B4-BE49-F238E27FC236}">
                <a16:creationId xmlns:a16="http://schemas.microsoft.com/office/drawing/2014/main" id="{76EEB53E-ECCE-456E-8F2D-814FF0F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Identify data-quality issues</a:t>
            </a:r>
          </a:p>
        </p:txBody>
      </p:sp>
      <p:sp>
        <p:nvSpPr>
          <p:cNvPr id="19" name="analyst-need-2-mark">
            <a:extLst xmlns:a="http://schemas.openxmlformats.org/drawingml/2006/main">
              <a:ext uri="{FF2B5EF4-FFF2-40B4-BE49-F238E27FC236}">
                <a16:creationId xmlns:a16="http://schemas.microsoft.com/office/drawing/2014/main" id="{3BEAC428-B6E7-43E6-B0D5-F214409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20" name="analyst-need-2">
            <a:extLst xmlns:a="http://schemas.openxmlformats.org/drawingml/2006/main">
              <a:ext uri="{FF2B5EF4-FFF2-40B4-BE49-F238E27FC236}">
                <a16:creationId xmlns:a16="http://schemas.microsoft.com/office/drawing/2014/main" id="{CDCCBAEE-CC72-401A-B3B3-57427AC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Quarantine and validate records</a:t>
            </a:r>
          </a:p>
        </p:txBody>
      </p:sp>
      <p:sp>
        <p:nvSpPr>
          <p:cNvPr id="21" name="analyst-need-3-mark">
            <a:extLst xmlns:a="http://schemas.openxmlformats.org/drawingml/2006/main">
              <a:ext uri="{FF2B5EF4-FFF2-40B4-BE49-F238E27FC236}">
                <a16:creationId xmlns:a16="http://schemas.microsoft.com/office/drawing/2014/main" id="{49FE7514-025F-4552-A63C-0B8EF465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92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22" name="analyst-need-3">
            <a:extLst xmlns:a="http://schemas.openxmlformats.org/drawingml/2006/main">
              <a:ext uri="{FF2B5EF4-FFF2-40B4-BE49-F238E27FC236}">
                <a16:creationId xmlns:a16="http://schemas.microsoft.com/office/drawing/2014/main" id="{F681EA5A-3B59-4363-96A1-4F589F9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Trace local publication and lineage</a:t>
            </a:r>
          </a:p>
        </p:txBody>
      </p:sp>
      <p:sp>
        <p:nvSpPr>
          <p:cNvPr id="23" name="shared-need-bar">
            <a:extLst xmlns:a="http://schemas.openxmlformats.org/drawingml/2006/main">
              <a:ext uri="{FF2B5EF4-FFF2-40B4-BE49-F238E27FC236}">
                <a16:creationId xmlns:a16="http://schemas.microsoft.com/office/drawing/2014/main" id="{6022580B-2CDA-41BA-B768-238E94E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249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red-need-label">
            <a:extLst xmlns:a="http://schemas.openxmlformats.org/drawingml/2006/main">
              <a:ext uri="{FF2B5EF4-FFF2-40B4-BE49-F238E27FC236}">
                <a16:creationId xmlns:a16="http://schemas.microsoft.com/office/drawing/2014/main" id="{162FBBED-18AF-492A-B29E-E857C2C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29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5DEFF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E5DEFF"/>
                </a:solidFill>
                <a:latin typeface="Manrope"/>
                <a:ea typeface="Manrope"/>
                <a:cs typeface="Manrope"/>
              </a:rPr>
              <a:t>SHARED NEED</a:t>
            </a:r>
          </a:p>
        </p:txBody>
      </p:sp>
      <p:sp>
        <p:nvSpPr>
          <p:cNvPr id="25" name="shared-need-body">
            <a:extLst xmlns:a="http://schemas.openxmlformats.org/drawingml/2006/main">
              <a:ext uri="{FF2B5EF4-FFF2-40B4-BE49-F238E27FC236}">
                <a16:creationId xmlns:a16="http://schemas.microsoft.com/office/drawing/2014/main" id="{2AFD9F55-A3FC-4DEA-8B6F-5FFB219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39127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Trustworthy context before action - with assumptions and data status visible.</a:t>
            </a:r>
          </a:p>
        </p:txBody>
      </p:sp>
      <p:sp>
        <p:nvSpPr>
          <p:cNvPr id="26" name="page-number-top-4">
            <a:extLst xmlns:a="http://schemas.openxmlformats.org/drawingml/2006/main">
              <a:ext uri="{FF2B5EF4-FFF2-40B4-BE49-F238E27FC236}">
                <a16:creationId xmlns:a16="http://schemas.microsoft.com/office/drawing/2014/main" id="{1D0C38FA-E58E-4C5B-B663-B0680AC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7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4B183853-79E2-468D-9871-DB76BE54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SPRINT 2 REVIEW</a:t>
            </a:r>
          </a:p>
        </p:txBody>
      </p:sp>
      <p:sp>
        <p:nvSpPr>
          <p:cNvPr id="28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DCCE8164-5AF8-4CC0-B13A-B7E76DD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d468b58214305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30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F85EA15E-5CD9-4D86-86B7-B11576C5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c5c54a7ac4a6e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32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6C422B8-65D0-4752-9529-FB7FC75A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copy-4">
            <a:extLst xmlns:a="http://schemas.openxmlformats.org/drawingml/2006/main">
              <a:ext uri="{FF2B5EF4-FFF2-40B4-BE49-F238E27FC236}">
                <a16:creationId xmlns:a16="http://schemas.microsoft.com/office/drawing/2014/main" id="{E155584A-EDBB-4679-A29C-5C40725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3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1845C67-5A6B-4AE2-8D46-5FCD2346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7310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090842-098F-46BF-9648-61AC2C1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TWO JOURNEYS CONVERGE ON TRUSTED DECISIONS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D6B672-D755-42D4-99D6-0CE1731D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Every step shown below is present and navigable in the current prototype.</a:t>
            </a:r>
          </a:p>
        </p:txBody>
      </p:sp>
      <p:sp>
        <p:nvSpPr>
          <p:cNvPr id="3" name="executive-lane">
            <a:extLst xmlns:a="http://schemas.openxmlformats.org/drawingml/2006/main">
              <a:ext uri="{FF2B5EF4-FFF2-40B4-BE49-F238E27FC236}">
                <a16:creationId xmlns:a16="http://schemas.microsoft.com/office/drawing/2014/main" id="{71E120FA-9DF3-4FDA-8351-4CEB3AC9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EXECUTIVE JOURNEY</a:t>
            </a:r>
          </a:p>
        </p:txBody>
      </p:sp>
      <p:sp>
        <p:nvSpPr>
          <p:cNvPr id="4" name="analyst-lane">
            <a:extLst xmlns:a="http://schemas.openxmlformats.org/drawingml/2006/main">
              <a:ext uri="{FF2B5EF4-FFF2-40B4-BE49-F238E27FC236}">
                <a16:creationId xmlns:a16="http://schemas.microsoft.com/office/drawing/2014/main" id="{F040CE15-00B0-44C9-BA14-1DA6959A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ANALYST JOURNEY</a:t>
            </a:r>
          </a:p>
        </p:txBody>
      </p:sp>
      <p:sp>
        <p:nvSpPr>
          <p:cNvPr id="5" name="executive-arrow-1">
            <a:extLst xmlns:a="http://schemas.openxmlformats.org/drawingml/2006/main">
              <a:ext uri="{FF2B5EF4-FFF2-40B4-BE49-F238E27FC236}">
                <a16:creationId xmlns:a16="http://schemas.microsoft.com/office/drawing/2014/main" id="{6065AB89-ECBE-4CD4-8D57-DEB7CD45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6" name="analyst-arrow-1">
            <a:extLst xmlns:a="http://schemas.openxmlformats.org/drawingml/2006/main">
              <a:ext uri="{FF2B5EF4-FFF2-40B4-BE49-F238E27FC236}">
                <a16:creationId xmlns:a16="http://schemas.microsoft.com/office/drawing/2014/main" id="{AC3FEF11-12E5-405E-8657-C9F9326C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05325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7" name="executive-arrow-2">
            <a:extLst xmlns:a="http://schemas.openxmlformats.org/drawingml/2006/main">
              <a:ext uri="{FF2B5EF4-FFF2-40B4-BE49-F238E27FC236}">
                <a16:creationId xmlns:a16="http://schemas.microsoft.com/office/drawing/2014/main" id="{12BB6203-3584-478E-B9F4-9A6C9D9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8" name="analyst-arrow-2">
            <a:extLst xmlns:a="http://schemas.openxmlformats.org/drawingml/2006/main">
              <a:ext uri="{FF2B5EF4-FFF2-40B4-BE49-F238E27FC236}">
                <a16:creationId xmlns:a16="http://schemas.microsoft.com/office/drawing/2014/main" id="{D8AF453C-3602-46CB-A2AA-AB685AE1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05325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9" name="executive-arrow-3">
            <a:extLst xmlns:a="http://schemas.openxmlformats.org/drawingml/2006/main">
              <a:ext uri="{FF2B5EF4-FFF2-40B4-BE49-F238E27FC236}">
                <a16:creationId xmlns:a16="http://schemas.microsoft.com/office/drawing/2014/main" id="{194BC24B-73A7-4088-AF9B-221124DE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10" name="analyst-arrow-3">
            <a:extLst xmlns:a="http://schemas.openxmlformats.org/drawingml/2006/main">
              <a:ext uri="{FF2B5EF4-FFF2-40B4-BE49-F238E27FC236}">
                <a16:creationId xmlns:a16="http://schemas.microsoft.com/office/drawing/2014/main" id="{19C2AB99-B5A6-4E62-9A39-9C4F458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05325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11" name="executive-arrow-4">
            <a:extLst xmlns:a="http://schemas.openxmlformats.org/drawingml/2006/main">
              <a:ext uri="{FF2B5EF4-FFF2-40B4-BE49-F238E27FC236}">
                <a16:creationId xmlns:a16="http://schemas.microsoft.com/office/drawing/2014/main" id="{6655F519-2727-413B-85B0-8AB107BE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241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12" name="analyst-arrow-4">
            <a:extLst xmlns:a="http://schemas.openxmlformats.org/drawingml/2006/main">
              <a:ext uri="{FF2B5EF4-FFF2-40B4-BE49-F238E27FC236}">
                <a16:creationId xmlns:a16="http://schemas.microsoft.com/office/drawing/2014/main" id="{18C1E0B6-0F8D-4B71-94F1-3161684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05325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13" name="executive-overview-surface">
            <a:extLst xmlns:a="http://schemas.openxmlformats.org/drawingml/2006/main">
              <a:ext uri="{FF2B5EF4-FFF2-40B4-BE49-F238E27FC236}">
                <a16:creationId xmlns:a16="http://schemas.microsoft.com/office/drawing/2014/main" id="{CB91EFB1-FF50-49FA-B606-DD279C0D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sp>
        <p:nvSpPr>
          <p:cNvPr id="14" name="executive-overview-label">
            <a:extLst xmlns:a="http://schemas.openxmlformats.org/drawingml/2006/main">
              <a:ext uri="{FF2B5EF4-FFF2-40B4-BE49-F238E27FC236}">
                <a16:creationId xmlns:a16="http://schemas.microsoft.com/office/drawing/2014/main" id="{C99C22B6-9009-419C-AEEE-ECD6811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Overview</a:t>
            </a:r>
          </a:p>
        </p:txBody>
      </p:sp>
      <p:sp>
        <p:nvSpPr>
          <p:cNvPr id="15" name="executive-overview-detail">
            <a:extLst xmlns:a="http://schemas.openxmlformats.org/drawingml/2006/main">
              <a:ext uri="{FF2B5EF4-FFF2-40B4-BE49-F238E27FC236}">
                <a16:creationId xmlns:a16="http://schemas.microsoft.com/office/drawing/2014/main" id="{31A4C46D-E50E-4443-A46C-E5A1402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9D6E1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D9D6E1"/>
                </a:solidFill>
                <a:latin typeface="Manrope"/>
                <a:ea typeface="Manrope"/>
                <a:cs typeface="Manrope"/>
              </a:rPr>
              <a:t>Portfolio signal</a:t>
            </a:r>
          </a:p>
        </p:txBody>
      </p:sp>
      <p:sp>
        <p:nvSpPr>
          <p:cNvPr id="16" name="executive-funds-surface">
            <a:extLst xmlns:a="http://schemas.openxmlformats.org/drawingml/2006/main">
              <a:ext uri="{FF2B5EF4-FFF2-40B4-BE49-F238E27FC236}">
                <a16:creationId xmlns:a16="http://schemas.microsoft.com/office/drawing/2014/main" id="{D3B096EC-8C33-42A6-8453-CAD581BB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17" name="executive-funds-label">
            <a:extLst xmlns:a="http://schemas.openxmlformats.org/drawingml/2006/main">
              <a:ext uri="{FF2B5EF4-FFF2-40B4-BE49-F238E27FC236}">
                <a16:creationId xmlns:a16="http://schemas.microsoft.com/office/drawing/2014/main" id="{D5D85268-0BA0-4CF9-BD3A-5F315C7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Funds</a:t>
            </a:r>
          </a:p>
        </p:txBody>
      </p:sp>
      <p:sp>
        <p:nvSpPr>
          <p:cNvPr id="18" name="executive-funds-detail">
            <a:extLst xmlns:a="http://schemas.openxmlformats.org/drawingml/2006/main">
              <a:ext uri="{FF2B5EF4-FFF2-40B4-BE49-F238E27FC236}">
                <a16:creationId xmlns:a16="http://schemas.microsoft.com/office/drawing/2014/main" id="{B22BE08A-A86E-4FF8-AF72-F69BBB46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Select a fund</a:t>
            </a:r>
          </a:p>
        </p:txBody>
      </p:sp>
      <p:sp>
        <p:nvSpPr>
          <p:cNvPr id="19" name="executive-allocation-surface">
            <a:extLst xmlns:a="http://schemas.openxmlformats.org/drawingml/2006/main">
              <a:ext uri="{FF2B5EF4-FFF2-40B4-BE49-F238E27FC236}">
                <a16:creationId xmlns:a16="http://schemas.microsoft.com/office/drawing/2014/main" id="{B9BAFA1D-337E-44F0-B670-EF028324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20" name="executive-allocation-label">
            <a:extLst xmlns:a="http://schemas.openxmlformats.org/drawingml/2006/main">
              <a:ext uri="{FF2B5EF4-FFF2-40B4-BE49-F238E27FC236}">
                <a16:creationId xmlns:a16="http://schemas.microsoft.com/office/drawing/2014/main" id="{DE7C8380-960E-46BD-8C08-C33EC5D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Allocation</a:t>
            </a:r>
          </a:p>
        </p:txBody>
      </p:sp>
      <p:sp>
        <p:nvSpPr>
          <p:cNvPr id="21" name="executive-allocation-detail">
            <a:extLst xmlns:a="http://schemas.openxmlformats.org/drawingml/2006/main">
              <a:ext uri="{FF2B5EF4-FFF2-40B4-BE49-F238E27FC236}">
                <a16:creationId xmlns:a16="http://schemas.microsoft.com/office/drawing/2014/main" id="{339F4760-7B3B-407D-A937-C3CD15AD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Filter holdings</a:t>
            </a:r>
          </a:p>
        </p:txBody>
      </p:sp>
      <p:sp>
        <p:nvSpPr>
          <p:cNvPr id="22" name="executive-performance-surface">
            <a:extLst xmlns:a="http://schemas.openxmlformats.org/drawingml/2006/main">
              <a:ext uri="{FF2B5EF4-FFF2-40B4-BE49-F238E27FC236}">
                <a16:creationId xmlns:a16="http://schemas.microsoft.com/office/drawing/2014/main" id="{C9123B51-E781-4A5C-8621-5B741BB3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23" name="executive-performance-label">
            <a:extLst xmlns:a="http://schemas.openxmlformats.org/drawingml/2006/main">
              <a:ext uri="{FF2B5EF4-FFF2-40B4-BE49-F238E27FC236}">
                <a16:creationId xmlns:a16="http://schemas.microsoft.com/office/drawing/2014/main" id="{2D4D682B-111B-44D3-9644-9D2E6AB9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Performance</a:t>
            </a:r>
          </a:p>
        </p:txBody>
      </p:sp>
      <p:sp>
        <p:nvSpPr>
          <p:cNvPr id="24" name="executive-performance-detail">
            <a:extLst xmlns:a="http://schemas.openxmlformats.org/drawingml/2006/main">
              <a:ext uri="{FF2B5EF4-FFF2-40B4-BE49-F238E27FC236}">
                <a16:creationId xmlns:a16="http://schemas.microsoft.com/office/drawing/2014/main" id="{557A9DFE-87FA-40EE-B86D-BAB1FA0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Review risk</a:t>
            </a:r>
          </a:p>
        </p:txBody>
      </p:sp>
      <p:sp>
        <p:nvSpPr>
          <p:cNvPr id="25" name="executive-compare-surface">
            <a:extLst xmlns:a="http://schemas.openxmlformats.org/drawingml/2006/main">
              <a:ext uri="{FF2B5EF4-FFF2-40B4-BE49-F238E27FC236}">
                <a16:creationId xmlns:a16="http://schemas.microsoft.com/office/drawing/2014/main" id="{AEAED54D-CBF0-4A46-A4FB-3861D71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479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26" name="executive-compare-label">
            <a:extLst xmlns:a="http://schemas.openxmlformats.org/drawingml/2006/main">
              <a:ext uri="{FF2B5EF4-FFF2-40B4-BE49-F238E27FC236}">
                <a16:creationId xmlns:a16="http://schemas.microsoft.com/office/drawing/2014/main" id="{5E1929EE-A5C6-48EF-BA55-AE12CEC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Compare</a:t>
            </a:r>
          </a:p>
        </p:txBody>
      </p:sp>
      <p:sp>
        <p:nvSpPr>
          <p:cNvPr id="27" name="executive-compare-detail">
            <a:extLst xmlns:a="http://schemas.openxmlformats.org/drawingml/2006/main">
              <a:ext uri="{FF2B5EF4-FFF2-40B4-BE49-F238E27FC236}">
                <a16:creationId xmlns:a16="http://schemas.microsoft.com/office/drawing/2014/main" id="{584C5051-C58F-4337-AD57-8AF5EEB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Internal and peers</a:t>
            </a:r>
          </a:p>
        </p:txBody>
      </p:sp>
      <p:sp>
        <p:nvSpPr>
          <p:cNvPr id="28" name="analyst-import-surface">
            <a:extLst xmlns:a="http://schemas.openxmlformats.org/drawingml/2006/main">
              <a:ext uri="{FF2B5EF4-FFF2-40B4-BE49-F238E27FC236}">
                <a16:creationId xmlns:a16="http://schemas.microsoft.com/office/drawing/2014/main" id="{C6336CB1-F29C-4CF5-A25A-D9B8B79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sp>
        <p:nvSpPr>
          <p:cNvPr id="29" name="analyst-import-label">
            <a:extLst xmlns:a="http://schemas.openxmlformats.org/drawingml/2006/main">
              <a:ext uri="{FF2B5EF4-FFF2-40B4-BE49-F238E27FC236}">
                <a16:creationId xmlns:a16="http://schemas.microsoft.com/office/drawing/2014/main" id="{760060A8-8308-49AF-94E2-EDA9245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Import</a:t>
            </a:r>
          </a:p>
        </p:txBody>
      </p:sp>
      <p:sp>
        <p:nvSpPr>
          <p:cNvPr id="30" name="analyst-import-detail">
            <a:extLst xmlns:a="http://schemas.openxmlformats.org/drawingml/2006/main">
              <a:ext uri="{FF2B5EF4-FFF2-40B4-BE49-F238E27FC236}">
                <a16:creationId xmlns:a16="http://schemas.microsoft.com/office/drawing/2014/main" id="{160F1186-3384-40C0-A211-431BC51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9D6E1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D9D6E1"/>
                </a:solidFill>
                <a:latin typeface="Manrope"/>
                <a:ea typeface="Manrope"/>
                <a:cs typeface="Manrope"/>
              </a:rPr>
              <a:t>Select fixture</a:t>
            </a:r>
          </a:p>
        </p:txBody>
      </p:sp>
      <p:sp>
        <p:nvSpPr>
          <p:cNvPr id="31" name="analyst-structure-surface">
            <a:extLst xmlns:a="http://schemas.openxmlformats.org/drawingml/2006/main">
              <a:ext uri="{FF2B5EF4-FFF2-40B4-BE49-F238E27FC236}">
                <a16:creationId xmlns:a16="http://schemas.microsoft.com/office/drawing/2014/main" id="{472059D9-A6CB-428A-BD35-19571B5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32" name="analyst-structure-label">
            <a:extLst xmlns:a="http://schemas.openxmlformats.org/drawingml/2006/main">
              <a:ext uri="{FF2B5EF4-FFF2-40B4-BE49-F238E27FC236}">
                <a16:creationId xmlns:a16="http://schemas.microsoft.com/office/drawing/2014/main" id="{7FEAB819-47B1-41DA-8FEB-CB42542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529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Structure</a:t>
            </a:r>
          </a:p>
        </p:txBody>
      </p:sp>
      <p:sp>
        <p:nvSpPr>
          <p:cNvPr id="33" name="analyst-structure-detail">
            <a:extLst xmlns:a="http://schemas.openxmlformats.org/drawingml/2006/main">
              <a:ext uri="{FF2B5EF4-FFF2-40B4-BE49-F238E27FC236}">
                <a16:creationId xmlns:a16="http://schemas.microsoft.com/office/drawing/2014/main" id="{511549EA-9E8F-4AF7-86DC-08C9285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Check shape</a:t>
            </a:r>
          </a:p>
        </p:txBody>
      </p:sp>
      <p:sp>
        <p:nvSpPr>
          <p:cNvPr id="34" name="analyst-anomalies-surface">
            <a:extLst xmlns:a="http://schemas.openxmlformats.org/drawingml/2006/main">
              <a:ext uri="{FF2B5EF4-FFF2-40B4-BE49-F238E27FC236}">
                <a16:creationId xmlns:a16="http://schemas.microsoft.com/office/drawing/2014/main" id="{E33FADF8-0A1C-4AE5-B87E-0AF94C4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35" name="analyst-anomalies-label">
            <a:extLst xmlns:a="http://schemas.openxmlformats.org/drawingml/2006/main">
              <a:ext uri="{FF2B5EF4-FFF2-40B4-BE49-F238E27FC236}">
                <a16:creationId xmlns:a16="http://schemas.microsoft.com/office/drawing/2014/main" id="{44AD1F70-F0F9-4E59-9D0C-269E5D9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529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Anomalies</a:t>
            </a:r>
          </a:p>
        </p:txBody>
      </p:sp>
      <p:sp>
        <p:nvSpPr>
          <p:cNvPr id="36" name="analyst-anomalies-detail">
            <a:extLst xmlns:a="http://schemas.openxmlformats.org/drawingml/2006/main">
              <a:ext uri="{FF2B5EF4-FFF2-40B4-BE49-F238E27FC236}">
                <a16:creationId xmlns:a16="http://schemas.microsoft.com/office/drawing/2014/main" id="{D6BAEB14-D465-4D98-945F-6E1285F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386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Inspect issues</a:t>
            </a:r>
          </a:p>
        </p:txBody>
      </p:sp>
      <p:sp>
        <p:nvSpPr>
          <p:cNvPr id="37" name="analyst-validate-surface">
            <a:extLst xmlns:a="http://schemas.openxmlformats.org/drawingml/2006/main">
              <a:ext uri="{FF2B5EF4-FFF2-40B4-BE49-F238E27FC236}">
                <a16:creationId xmlns:a16="http://schemas.microsoft.com/office/drawing/2014/main" id="{9854E6A9-EF5B-4816-B547-93436FF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38" name="analyst-validate-label">
            <a:extLst xmlns:a="http://schemas.openxmlformats.org/drawingml/2006/main">
              <a:ext uri="{FF2B5EF4-FFF2-40B4-BE49-F238E27FC236}">
                <a16:creationId xmlns:a16="http://schemas.microsoft.com/office/drawing/2014/main" id="{ABA745BD-D0F4-4E76-BAC8-9B926369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529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Validate</a:t>
            </a:r>
          </a:p>
        </p:txBody>
      </p:sp>
      <p:sp>
        <p:nvSpPr>
          <p:cNvPr id="39" name="analyst-validate-detail">
            <a:extLst xmlns:a="http://schemas.openxmlformats.org/drawingml/2006/main">
              <a:ext uri="{FF2B5EF4-FFF2-40B4-BE49-F238E27FC236}">
                <a16:creationId xmlns:a16="http://schemas.microsoft.com/office/drawing/2014/main" id="{4ACA2F46-4BF0-4A01-A4FF-3B93DD6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386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Publish locally</a:t>
            </a:r>
          </a:p>
        </p:txBody>
      </p:sp>
      <p:sp>
        <p:nvSpPr>
          <p:cNvPr id="40" name="analyst-lineage-surface">
            <a:extLst xmlns:a="http://schemas.openxmlformats.org/drawingml/2006/main">
              <a:ext uri="{FF2B5EF4-FFF2-40B4-BE49-F238E27FC236}">
                <a16:creationId xmlns:a16="http://schemas.microsoft.com/office/drawing/2014/main" id="{7BCDFAB1-9E4F-4842-902A-004531D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291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41" name="analyst-lineage-label">
            <a:extLst xmlns:a="http://schemas.openxmlformats.org/drawingml/2006/main">
              <a:ext uri="{FF2B5EF4-FFF2-40B4-BE49-F238E27FC236}">
                <a16:creationId xmlns:a16="http://schemas.microsoft.com/office/drawing/2014/main" id="{C20CA930-DF43-44C5-8B7D-877F03D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529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Runs &amp; lineage</a:t>
            </a:r>
          </a:p>
        </p:txBody>
      </p:sp>
      <p:sp>
        <p:nvSpPr>
          <p:cNvPr id="42" name="analyst-lineage-detail">
            <a:extLst xmlns:a="http://schemas.openxmlformats.org/drawingml/2006/main">
              <a:ext uri="{FF2B5EF4-FFF2-40B4-BE49-F238E27FC236}">
                <a16:creationId xmlns:a16="http://schemas.microsoft.com/office/drawing/2014/main" id="{7A510A43-D269-476A-B80F-31E3844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386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Trace evidence</a:t>
            </a:r>
          </a:p>
        </p:txBody>
      </p:sp>
      <p:sp>
        <p:nvSpPr>
          <p:cNvPr id="43" name="journey-bottom-rule">
            <a:extLst xmlns:a="http://schemas.openxmlformats.org/drawingml/2006/main">
              <a:ext uri="{FF2B5EF4-FFF2-40B4-BE49-F238E27FC236}">
                <a16:creationId xmlns:a16="http://schemas.microsoft.com/office/drawing/2014/main" id="{ECA08360-8C3D-485B-B4DE-D1C1887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journey-friction-label">
            <a:extLst xmlns:a="http://schemas.openxmlformats.org/drawingml/2006/main">
              <a:ext uri="{FF2B5EF4-FFF2-40B4-BE49-F238E27FC236}">
                <a16:creationId xmlns:a16="http://schemas.microsoft.com/office/drawing/2014/main" id="{12A80344-8459-4D38-A6F1-D43F7CAC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CURRENT BOUNDARY</a:t>
            </a:r>
          </a:p>
        </p:txBody>
      </p:sp>
      <p:sp>
        <p:nvSpPr>
          <p:cNvPr id="45" name="journey-friction">
            <a:extLst xmlns:a="http://schemas.openxmlformats.org/drawingml/2006/main">
              <a:ext uri="{FF2B5EF4-FFF2-40B4-BE49-F238E27FC236}">
                <a16:creationId xmlns:a16="http://schemas.microsoft.com/office/drawing/2014/main" id="{C6555648-6365-4C94-99E7-5AF1247F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57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Production data and partner thresholds are not connected yet.</a:t>
            </a:r>
          </a:p>
        </p:txBody>
      </p:sp>
      <p:sp>
        <p:nvSpPr>
          <p:cNvPr id="46" name="journey-validation-label">
            <a:extLst xmlns:a="http://schemas.openxmlformats.org/drawingml/2006/main">
              <a:ext uri="{FF2B5EF4-FFF2-40B4-BE49-F238E27FC236}">
                <a16:creationId xmlns:a16="http://schemas.microsoft.com/office/drawing/2014/main" id="{1B530DD8-7A0D-4F60-9FE7-CB1D9A9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76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VERIFIED TODAY</a:t>
            </a:r>
          </a:p>
        </p:txBody>
      </p:sp>
      <p:sp>
        <p:nvSpPr>
          <p:cNvPr id="47" name="journey-validation">
            <a:extLst xmlns:a="http://schemas.openxmlformats.org/drawingml/2006/main">
              <a:ext uri="{FF2B5EF4-FFF2-40B4-BE49-F238E27FC236}">
                <a16:creationId xmlns:a16="http://schemas.microsoft.com/office/drawing/2014/main" id="{6C8F533C-54A2-4E51-A91D-0D5B3951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578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Navigation, drill-down and workflow interactions use synthetic data.</a:t>
            </a:r>
          </a:p>
        </p:txBody>
      </p:sp>
      <p:sp>
        <p:nvSpPr>
          <p:cNvPr id="48" name="page-number-top-5">
            <a:extLst xmlns:a="http://schemas.openxmlformats.org/drawingml/2006/main">
              <a:ext uri="{FF2B5EF4-FFF2-40B4-BE49-F238E27FC236}">
                <a16:creationId xmlns:a16="http://schemas.microsoft.com/office/drawing/2014/main" id="{946490BD-76BF-48C9-82B8-5713415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49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0945626D-12CF-4FD6-A348-D0729E0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PRODUCT FLOW</a:t>
            </a:r>
          </a:p>
        </p:txBody>
      </p:sp>
      <p:sp>
        <p:nvSpPr>
          <p:cNvPr id="50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C3569DB7-CB17-49F4-8DE5-567DC864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16e4532db4828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52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B98280FC-969E-44B0-933A-02F5E7F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a933917ef46a5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5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0D5452B-BACD-4DA4-B060-D6F7811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footer-copy-5">
            <a:extLst xmlns:a="http://schemas.openxmlformats.org/drawingml/2006/main">
              <a:ext uri="{FF2B5EF4-FFF2-40B4-BE49-F238E27FC236}">
                <a16:creationId xmlns:a16="http://schemas.microsoft.com/office/drawing/2014/main" id="{DCE0CCDC-413C-4F0C-89D6-7BE3241F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5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4D29CD5-9B46-43BB-805D-E66115CF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4012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8FCE7-BBD5-419D-B74A-A99CF5C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6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 WORKING INTERFACE IS READY FOR LIVE DEMO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950702-88A4-4B93-A114-8F5E7F07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Current English screens, captured from the running prototype.</a:t>
            </a:r>
          </a:p>
        </p:txBody>
      </p:sp>
      <p:sp>
        <p:nvSpPr>
          <p:cNvPr id="3" name="preview-main-frame">
            <a:extLst xmlns:a="http://schemas.openxmlformats.org/drawingml/2006/main">
              <a:ext uri="{FF2B5EF4-FFF2-40B4-BE49-F238E27FC236}">
                <a16:creationId xmlns:a16="http://schemas.microsoft.com/office/drawing/2014/main" id="{07C6194E-38E9-4E21-94E7-C05124D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790575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80dc751ea4dbd"/>
          <a:srcRect xmlns:a="http://schemas.openxmlformats.org/drawingml/2006/main" l="0" t="10904" r="0" b="10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28850"/>
            <a:ext cx="7753350" cy="4210050"/>
          </a:xfrm>
          <a:prstGeom xmlns:a="http://schemas.openxmlformats.org/drawingml/2006/main" prst="roundRect">
            <a:avLst>
              <a:gd name="adj" fmla="val 1810"/>
            </a:avLst>
          </a:prstGeom>
        </p:spPr>
      </p:pic>
      <p:sp>
        <p:nvSpPr>
          <p:cNvPr id="5" name="preview-allocation-frame">
            <a:extLst xmlns:a="http://schemas.openxmlformats.org/drawingml/2006/main">
              <a:ext uri="{FF2B5EF4-FFF2-40B4-BE49-F238E27FC236}">
                <a16:creationId xmlns:a16="http://schemas.microsoft.com/office/drawing/2014/main" id="{470272C4-8F52-46A7-8829-D6C867E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4362450" cy="20193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e3ce33f6a466b"/>
          <a:srcRect xmlns:a="http://schemas.openxmlformats.org/drawingml/2006/main" l="0" t="18072" r="0" b="18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228850"/>
            <a:ext cx="4210050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7" name="preview-quality-frame">
            <a:extLst xmlns:a="http://schemas.openxmlformats.org/drawingml/2006/main">
              <a:ext uri="{FF2B5EF4-FFF2-40B4-BE49-F238E27FC236}">
                <a16:creationId xmlns:a16="http://schemas.microsoft.com/office/drawing/2014/main" id="{4C526B81-B74B-4096-927B-90BB0656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43624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e59645e33477a"/>
          <a:srcRect xmlns:a="http://schemas.openxmlformats.org/drawingml/2006/main" l="0" t="16769" r="0" b="16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4495800"/>
            <a:ext cx="4210050" cy="194310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9" name="preview-tag-main-surface">
            <a:extLst xmlns:a="http://schemas.openxmlformats.org/drawingml/2006/main">
              <a:ext uri="{FF2B5EF4-FFF2-40B4-BE49-F238E27FC236}">
                <a16:creationId xmlns:a16="http://schemas.microsoft.com/office/drawing/2014/main" id="{0DC4AE07-9634-4B58-B98E-F82A3E1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view-tag-main">
            <a:extLst xmlns:a="http://schemas.openxmlformats.org/drawingml/2006/main">
              <a:ext uri="{FF2B5EF4-FFF2-40B4-BE49-F238E27FC236}">
                <a16:creationId xmlns:a16="http://schemas.microsoft.com/office/drawing/2014/main" id="{40DA0B2F-FC02-4BE6-9559-CDA1982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72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FUND AND PERIOD FILTERS</a:t>
            </a:r>
          </a:p>
        </p:txBody>
      </p:sp>
      <p:sp>
        <p:nvSpPr>
          <p:cNvPr id="11" name="preview-tag-allocation-surface">
            <a:extLst xmlns:a="http://schemas.openxmlformats.org/drawingml/2006/main">
              <a:ext uri="{FF2B5EF4-FFF2-40B4-BE49-F238E27FC236}">
                <a16:creationId xmlns:a16="http://schemas.microsoft.com/office/drawing/2014/main" id="{1BBF5122-1ACA-46D8-81B3-9279392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43325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eview-tag-allocation">
            <a:extLst xmlns:a="http://schemas.openxmlformats.org/drawingml/2006/main">
              <a:ext uri="{FF2B5EF4-FFF2-40B4-BE49-F238E27FC236}">
                <a16:creationId xmlns:a16="http://schemas.microsoft.com/office/drawing/2014/main" id="{AD1B3700-7716-4C8E-91F9-7841F7BC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00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ALLOCATION DRILL-DOWN</a:t>
            </a:r>
          </a:p>
        </p:txBody>
      </p:sp>
      <p:sp>
        <p:nvSpPr>
          <p:cNvPr id="13" name="preview-tag-quality-surface">
            <a:extLst xmlns:a="http://schemas.openxmlformats.org/drawingml/2006/main">
              <a:ext uri="{FF2B5EF4-FFF2-40B4-BE49-F238E27FC236}">
                <a16:creationId xmlns:a16="http://schemas.microsoft.com/office/drawing/2014/main" id="{5F01C003-2643-427A-A876-C2A60856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864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eview-tag-quality">
            <a:extLst xmlns:a="http://schemas.openxmlformats.org/drawingml/2006/main">
              <a:ext uri="{FF2B5EF4-FFF2-40B4-BE49-F238E27FC236}">
                <a16:creationId xmlns:a16="http://schemas.microsoft.com/office/drawing/2014/main" id="{75602F6A-8769-4F53-AF2C-228DC763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43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QUALITY SCENARIOS</a:t>
            </a:r>
          </a:p>
        </p:txBody>
      </p:sp>
      <p:sp>
        <p:nvSpPr>
          <p:cNvPr id="15" name="page-number-top-6">
            <a:extLst xmlns:a="http://schemas.openxmlformats.org/drawingml/2006/main">
              <a:ext uri="{FF2B5EF4-FFF2-40B4-BE49-F238E27FC236}">
                <a16:creationId xmlns:a16="http://schemas.microsoft.com/office/drawing/2014/main" id="{2736D7AC-A296-461D-896A-663B9A8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16" name="section-label-6">
            <a:extLst xmlns:a="http://schemas.openxmlformats.org/drawingml/2006/main">
              <a:ext uri="{FF2B5EF4-FFF2-40B4-BE49-F238E27FC236}">
                <a16:creationId xmlns:a16="http://schemas.microsoft.com/office/drawing/2014/main" id="{460DCDE4-6A19-4F5B-8F8E-393B7FE7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DASHBOARD PREVIEW</a:t>
            </a:r>
          </a:p>
        </p:txBody>
      </p:sp>
      <p:sp>
        <p:nvSpPr>
          <p:cNvPr id="17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B56590F5-A511-488E-AB68-DA462ED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09e5b53b549ed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19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B33CC008-17A5-461C-8BCD-2D4132A3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a805a4d69425c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2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A6B9A93-A7CF-4565-8104-5198858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copy-6">
            <a:extLst xmlns:a="http://schemas.openxmlformats.org/drawingml/2006/main">
              <a:ext uri="{FF2B5EF4-FFF2-40B4-BE49-F238E27FC236}">
                <a16:creationId xmlns:a16="http://schemas.microsoft.com/office/drawing/2014/main" id="{36C9CBAF-7951-4030-B925-E082F4F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F573F323-E72D-423E-9E27-279D375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4240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5A011-6532-45E5-80AE-1C3BEB2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6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COVERAGE IS BROAD, DATA REMAINS SYNTHETIC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DBD8D0-0688-4147-8DFD-04D2CFD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Scope is measurable; business certification and partner thresholds are still pending.</a:t>
            </a:r>
          </a:p>
        </p:txBody>
      </p:sp>
      <p:sp>
        <p:nvSpPr>
          <p:cNvPr id="3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E8DEA88F-33E3-4746-9735-6833E54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LIVE SECTIONS</a:t>
            </a:r>
          </a:p>
        </p:txBody>
      </p:sp>
      <p:sp>
        <p:nvSpPr>
          <p:cNvPr id="4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9E47AEE5-468D-4E5D-9A9E-05C46CB5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9</a:t>
            </a:r>
          </a:p>
        </p:txBody>
      </p:sp>
      <p:sp>
        <p:nvSpPr>
          <p:cNvPr id="5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295F875A-895C-4E75-B591-8C2B8A1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Executive and Operations views</a:t>
            </a:r>
          </a:p>
        </p:txBody>
      </p:sp>
      <p:sp>
        <p:nvSpPr>
          <p:cNvPr id="6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D769F8EA-13EE-4626-9D90-7335D66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95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2EA58A0-D336-4089-A4D7-B1D5AB24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DEMO STATES</a:t>
            </a:r>
          </a:p>
        </p:txBody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9CF551A5-DA18-4EF6-9A11-56F3CEA6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574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9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7B7BBEA4-3D81-455C-B094-E66ABD6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Current, late, incomplete, error and more</a:t>
            </a:r>
          </a:p>
        </p:txBody>
      </p:sp>
      <p:sp>
        <p:nvSpPr>
          <p:cNvPr id="10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E2D47528-4E5B-424B-8A25-6B4ABDE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95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E6970D8-92EF-4FB8-8AE6-ABC6F746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ALIASED FUNDS</a:t>
            </a:r>
          </a:p>
        </p:txBody>
      </p:sp>
      <p:sp>
        <p:nvSpPr>
          <p:cNvPr id="12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BB9D49C-461E-4F30-AF75-9048C629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57475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54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14</a:t>
            </a:r>
          </a:p>
        </p:txBody>
      </p:sp>
      <p:sp>
        <p:nvSpPr>
          <p:cNvPr id="13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E25DFCCE-4097-4853-B011-CF017D68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Seven with detailed snapshot coverage</a:t>
            </a:r>
          </a:p>
        </p:txBody>
      </p:sp>
      <p:sp>
        <p:nvSpPr>
          <p:cNvPr id="14" name="coverage-table-top">
            <a:extLst xmlns:a="http://schemas.openxmlformats.org/drawingml/2006/main">
              <a:ext uri="{FF2B5EF4-FFF2-40B4-BE49-F238E27FC236}">
                <a16:creationId xmlns:a16="http://schemas.microsoft.com/office/drawing/2014/main" id="{6A5B032E-79D6-4723-A1F3-31CD561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age-header-family">
            <a:extLst xmlns:a="http://schemas.openxmlformats.org/drawingml/2006/main">
              <a:ext uri="{FF2B5EF4-FFF2-40B4-BE49-F238E27FC236}">
                <a16:creationId xmlns:a16="http://schemas.microsoft.com/office/drawing/2014/main" id="{0AA21C8B-CBB9-4425-AF90-A633AA5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DATA FAMILY</a:t>
            </a:r>
          </a:p>
        </p:txBody>
      </p:sp>
      <p:sp>
        <p:nvSpPr>
          <p:cNvPr id="16" name="coverage-header-visible">
            <a:extLst xmlns:a="http://schemas.openxmlformats.org/drawingml/2006/main">
              <a:ext uri="{FF2B5EF4-FFF2-40B4-BE49-F238E27FC236}">
                <a16:creationId xmlns:a16="http://schemas.microsoft.com/office/drawing/2014/main" id="{274AE488-9838-495F-805F-95F2B6B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VISIBLE TODAY</a:t>
            </a:r>
          </a:p>
        </p:txBody>
      </p:sp>
      <p:sp>
        <p:nvSpPr>
          <p:cNvPr id="17" name="coverage-header-status">
            <a:extLst xmlns:a="http://schemas.openxmlformats.org/drawingml/2006/main">
              <a:ext uri="{FF2B5EF4-FFF2-40B4-BE49-F238E27FC236}">
                <a16:creationId xmlns:a16="http://schemas.microsoft.com/office/drawing/2014/main" id="{A7F39C52-6BFA-4523-A344-DC55092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CURRENT STATUS</a:t>
            </a:r>
          </a:p>
        </p:txBody>
      </p:sp>
      <p:sp>
        <p:nvSpPr>
          <p:cNvPr id="18" name="coverage-family-0">
            <a:extLst xmlns:a="http://schemas.openxmlformats.org/drawingml/2006/main">
              <a:ext uri="{FF2B5EF4-FFF2-40B4-BE49-F238E27FC236}">
                <a16:creationId xmlns:a16="http://schemas.microsoft.com/office/drawing/2014/main" id="{F90B4908-E224-45C6-BA8F-5F918D9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Portfolio &amp; fund</a:t>
            </a:r>
          </a:p>
        </p:txBody>
      </p:sp>
      <p:sp>
        <p:nvSpPr>
          <p:cNvPr id="19" name="coverage-visible-0">
            <a:extLst xmlns:a="http://schemas.openxmlformats.org/drawingml/2006/main">
              <a:ext uri="{FF2B5EF4-FFF2-40B4-BE49-F238E27FC236}">
                <a16:creationId xmlns:a16="http://schemas.microsoft.com/office/drawing/2014/main" id="{AE6DEEBB-0F5B-411E-AF25-91C2DFA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AUM, NAV, allocation, holdings and freshness</a:t>
            </a:r>
          </a:p>
        </p:txBody>
      </p:sp>
      <p:sp>
        <p:nvSpPr>
          <p:cNvPr id="20" name="coverage-status-0-surface">
            <a:extLst xmlns:a="http://schemas.openxmlformats.org/drawingml/2006/main">
              <a:ext uri="{FF2B5EF4-FFF2-40B4-BE49-F238E27FC236}">
                <a16:creationId xmlns:a16="http://schemas.microsoft.com/office/drawing/2014/main" id="{E4F95806-A584-4B51-88E4-DEE7BFA3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768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verage-status-0">
            <a:extLst xmlns:a="http://schemas.openxmlformats.org/drawingml/2006/main">
              <a:ext uri="{FF2B5EF4-FFF2-40B4-BE49-F238E27FC236}">
                <a16:creationId xmlns:a16="http://schemas.microsoft.com/office/drawing/2014/main" id="{B490BC74-9783-442B-9ED8-8519691D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339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SAMPLE DATA</a:t>
            </a:r>
          </a:p>
        </p:txBody>
      </p:sp>
      <p:sp>
        <p:nvSpPr>
          <p:cNvPr id="22" name="coverage-row-rule-0">
            <a:extLst xmlns:a="http://schemas.openxmlformats.org/drawingml/2006/main">
              <a:ext uri="{FF2B5EF4-FFF2-40B4-BE49-F238E27FC236}">
                <a16:creationId xmlns:a16="http://schemas.microsoft.com/office/drawing/2014/main" id="{911424AE-0A8D-4F76-98A2-F9713C5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verage-family-1">
            <a:extLst xmlns:a="http://schemas.openxmlformats.org/drawingml/2006/main">
              <a:ext uri="{FF2B5EF4-FFF2-40B4-BE49-F238E27FC236}">
                <a16:creationId xmlns:a16="http://schemas.microsoft.com/office/drawing/2014/main" id="{FDBD3AD8-7485-403E-B690-D3B8688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Analytics</a:t>
            </a:r>
          </a:p>
        </p:txBody>
      </p:sp>
      <p:sp>
        <p:nvSpPr>
          <p:cNvPr id="24" name="coverage-visible-1">
            <a:extLst xmlns:a="http://schemas.openxmlformats.org/drawingml/2006/main">
              <a:ext uri="{FF2B5EF4-FFF2-40B4-BE49-F238E27FC236}">
                <a16:creationId xmlns:a16="http://schemas.microsoft.com/office/drawing/2014/main" id="{DCD669D7-2B6C-455B-B1D3-CE68CFB9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149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Performance, risk, internal and peer comparison</a:t>
            </a:r>
          </a:p>
        </p:txBody>
      </p:sp>
      <p:sp>
        <p:nvSpPr>
          <p:cNvPr id="25" name="coverage-status-1-surface">
            <a:extLst xmlns:a="http://schemas.openxmlformats.org/drawingml/2006/main">
              <a:ext uri="{FF2B5EF4-FFF2-40B4-BE49-F238E27FC236}">
                <a16:creationId xmlns:a16="http://schemas.microsoft.com/office/drawing/2014/main" id="{F2954AED-19B9-460D-9D3C-58EB45D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verage-status-1">
            <a:extLst xmlns:a="http://schemas.openxmlformats.org/drawingml/2006/main">
              <a:ext uri="{FF2B5EF4-FFF2-40B4-BE49-F238E27FC236}">
                <a16:creationId xmlns:a16="http://schemas.microsoft.com/office/drawing/2014/main" id="{90A2DDF2-D69E-4872-B474-47ED54D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53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B5A1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8B5A12"/>
                </a:solidFill>
                <a:latin typeface="Manrope"/>
                <a:ea typeface="Manrope"/>
                <a:cs typeface="Manrope"/>
              </a:rPr>
              <a:t>SAMPLE / PENDING</a:t>
            </a:r>
          </a:p>
        </p:txBody>
      </p:sp>
      <p:sp>
        <p:nvSpPr>
          <p:cNvPr id="27" name="coverage-row-rule-1">
            <a:extLst xmlns:a="http://schemas.openxmlformats.org/drawingml/2006/main">
              <a:ext uri="{FF2B5EF4-FFF2-40B4-BE49-F238E27FC236}">
                <a16:creationId xmlns:a16="http://schemas.microsoft.com/office/drawing/2014/main" id="{4A5BB91F-2161-439D-AD28-1084EAC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verage-family-2">
            <a:extLst xmlns:a="http://schemas.openxmlformats.org/drawingml/2006/main">
              <a:ext uri="{FF2B5EF4-FFF2-40B4-BE49-F238E27FC236}">
                <a16:creationId xmlns:a16="http://schemas.microsoft.com/office/drawing/2014/main" id="{79FB9FAD-43E6-49FF-9231-78C508B2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Control &amp; evidence</a:t>
            </a:r>
          </a:p>
        </p:txBody>
      </p:sp>
      <p:sp>
        <p:nvSpPr>
          <p:cNvPr id="29" name="coverage-visible-2">
            <a:extLst xmlns:a="http://schemas.openxmlformats.org/drawingml/2006/main">
              <a:ext uri="{FF2B5EF4-FFF2-40B4-BE49-F238E27FC236}">
                <a16:creationId xmlns:a16="http://schemas.microsoft.com/office/drawing/2014/main" id="{853E803E-A8FE-4329-B81F-58FDCE0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341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Quality, anomalies, run status and lineage</a:t>
            </a:r>
          </a:p>
        </p:txBody>
      </p:sp>
      <p:sp>
        <p:nvSpPr>
          <p:cNvPr id="30" name="coverage-status-2-surface">
            <a:extLst xmlns:a="http://schemas.openxmlformats.org/drawingml/2006/main">
              <a:ext uri="{FF2B5EF4-FFF2-40B4-BE49-F238E27FC236}">
                <a16:creationId xmlns:a16="http://schemas.microsoft.com/office/drawing/2014/main" id="{13EB90BC-2032-4454-A95B-6FE175E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150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verage-status-2">
            <a:extLst xmlns:a="http://schemas.openxmlformats.org/drawingml/2006/main">
              <a:ext uri="{FF2B5EF4-FFF2-40B4-BE49-F238E27FC236}">
                <a16:creationId xmlns:a16="http://schemas.microsoft.com/office/drawing/2014/main" id="{DA5B706B-3294-43FF-B13C-9B680BE9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722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26B58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326B58"/>
                </a:solidFill>
                <a:latin typeface="Manrope"/>
                <a:ea typeface="Manrope"/>
                <a:cs typeface="Manrope"/>
              </a:rPr>
              <a:t>SYNTHETIC RUN</a:t>
            </a:r>
          </a:p>
        </p:txBody>
      </p:sp>
      <p:sp>
        <p:nvSpPr>
          <p:cNvPr id="32" name="coverage-row-rule-2">
            <a:extLst xmlns:a="http://schemas.openxmlformats.org/drawingml/2006/main">
              <a:ext uri="{FF2B5EF4-FFF2-40B4-BE49-F238E27FC236}">
                <a16:creationId xmlns:a16="http://schemas.microsoft.com/office/drawing/2014/main" id="{8848B1FA-084F-460F-A8F7-03AD8DB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-number-top-7">
            <a:extLst xmlns:a="http://schemas.openxmlformats.org/drawingml/2006/main">
              <a:ext uri="{FF2B5EF4-FFF2-40B4-BE49-F238E27FC236}">
                <a16:creationId xmlns:a16="http://schemas.microsoft.com/office/drawing/2014/main" id="{94A55864-6DF4-411E-A646-7D19210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3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C4CFC4A8-60DD-4738-BF60-2BB90111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CURRENT COVERAGE</a:t>
            </a:r>
          </a:p>
        </p:txBody>
      </p:sp>
      <p:sp>
        <p:nvSpPr>
          <p:cNvPr id="35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FA75ECE9-0086-43E8-956D-B557C84D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8a38849942ae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37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3C581A5A-1DC8-4ADB-911A-CACA16D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4ba45abde4c11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39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0DD10BAC-BAFE-4E09-A5A5-77B875BA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copy-7">
            <a:extLst xmlns:a="http://schemas.openxmlformats.org/drawingml/2006/main">
              <a:ext uri="{FF2B5EF4-FFF2-40B4-BE49-F238E27FC236}">
                <a16:creationId xmlns:a16="http://schemas.microsoft.com/office/drawing/2014/main" id="{D58CD2F8-107F-4CDF-BEFF-A2D3A09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4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9955555-497B-4F00-B431-43DD82EC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9938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6B84AF-A122-4226-8528-3BB4596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THE PROTOTYPE ALREADY FOLLOWS THE TARGET DATA FLOW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007784-CB6D-4C70-9ED0-F6E70CF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The current interface consumes controlled synthetic outputs rather than source files.</a:t>
            </a:r>
          </a:p>
        </p:txBody>
      </p:sp>
      <p:sp>
        <p:nvSpPr>
          <p:cNvPr id="3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AF5F7919-90DB-44C9-8B2F-C40431F5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4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606FF1CC-CAA7-47EB-9BBC-26B6891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5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E3FDF502-0B5A-4682-A2C0-9DB6D0BD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6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8D29D7E-DDE6-4A49-A68E-91D636A5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766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7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177E9BBD-9273-401C-918B-318F976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124075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8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E7DEC6EE-D783-4370-BD16-212438CD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Source data</a:t>
            </a:r>
          </a:p>
        </p:txBody>
      </p:sp>
      <p:sp>
        <p:nvSpPr>
          <p:cNvPr id="9" name="architecture-detail-0">
            <a:extLst xmlns:a="http://schemas.openxmlformats.org/drawingml/2006/main">
              <a:ext uri="{FF2B5EF4-FFF2-40B4-BE49-F238E27FC236}">
                <a16:creationId xmlns:a16="http://schemas.microsoft.com/office/drawing/2014/main" id="{52E365FD-6F6C-4D69-AEF1-D209896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Authorized exports</a:t>
            </a:r>
          </a:p>
        </p:txBody>
      </p:sp>
      <p:sp>
        <p:nvSpPr>
          <p:cNvPr id="10" name="architecture-status-0">
            <a:extLst xmlns:a="http://schemas.openxmlformats.org/drawingml/2006/main">
              <a:ext uri="{FF2B5EF4-FFF2-40B4-BE49-F238E27FC236}">
                <a16:creationId xmlns:a16="http://schemas.microsoft.com/office/drawing/2014/main" id="{0C3A1E84-7B53-4148-99C2-565C24A7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Not connected</a:t>
            </a:r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DEF8FA3A-C73D-4AA0-B576-C4F3163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14625"/>
            <a:ext cx="2124075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12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0F49F75D-3875-47FF-B27D-0F5296D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432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Ingestion</a:t>
            </a:r>
          </a:p>
        </p:txBody>
      </p:sp>
      <p:sp>
        <p:nvSpPr>
          <p:cNvPr id="13" name="architecture-detail-1">
            <a:extLst xmlns:a="http://schemas.openxmlformats.org/drawingml/2006/main">
              <a:ext uri="{FF2B5EF4-FFF2-40B4-BE49-F238E27FC236}">
                <a16:creationId xmlns:a16="http://schemas.microsoft.com/office/drawing/2014/main" id="{975367E9-E81D-4BF2-ACDA-ABE69446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861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Manifest + parsing</a:t>
            </a:r>
          </a:p>
        </p:txBody>
      </p:sp>
      <p:sp>
        <p:nvSpPr>
          <p:cNvPr id="14" name="architecture-status-1">
            <a:extLst xmlns:a="http://schemas.openxmlformats.org/drawingml/2006/main">
              <a:ext uri="{FF2B5EF4-FFF2-40B4-BE49-F238E27FC236}">
                <a16:creationId xmlns:a16="http://schemas.microsoft.com/office/drawing/2014/main" id="{DA0BF48A-DF04-4E41-9D37-BE7A9701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814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Local proof</a:t>
            </a:r>
          </a:p>
        </p:txBody>
      </p:sp>
      <p:sp>
        <p:nvSpPr>
          <p:cNvPr id="15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7917F4B0-10F2-4536-B335-04E4E273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2124075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16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444AF5C7-B3FB-41F4-B519-5F0646F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432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Curated data</a:t>
            </a:r>
          </a:p>
        </p:txBody>
      </p:sp>
      <p:sp>
        <p:nvSpPr>
          <p:cNvPr id="17" name="architecture-detail-2">
            <a:extLst xmlns:a="http://schemas.openxmlformats.org/drawingml/2006/main">
              <a:ext uri="{FF2B5EF4-FFF2-40B4-BE49-F238E27FC236}">
                <a16:creationId xmlns:a16="http://schemas.microsoft.com/office/drawing/2014/main" id="{F589C758-7108-43F1-B11D-5632CC1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861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Silver / Gold / Serving</a:t>
            </a:r>
          </a:p>
        </p:txBody>
      </p:sp>
      <p:sp>
        <p:nvSpPr>
          <p:cNvPr id="18" name="architecture-status-2">
            <a:extLst xmlns:a="http://schemas.openxmlformats.org/drawingml/2006/main">
              <a:ext uri="{FF2B5EF4-FFF2-40B4-BE49-F238E27FC236}">
                <a16:creationId xmlns:a16="http://schemas.microsoft.com/office/drawing/2014/main" id="{333EDD1A-ADCB-46E1-A003-F6C8F6D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814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Contracts defined</a:t>
            </a:r>
          </a:p>
        </p:txBody>
      </p:sp>
      <p:sp>
        <p:nvSpPr>
          <p:cNvPr id="19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3395A833-9A0F-4014-B56D-17461DC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14625"/>
            <a:ext cx="2124075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20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04E3C8C3-17B6-4FF6-AE2C-24F1482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432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Business logic</a:t>
            </a:r>
          </a:p>
        </p:txBody>
      </p:sp>
      <p:sp>
        <p:nvSpPr>
          <p:cNvPr id="21" name="architecture-detail-3">
            <a:extLst xmlns:a="http://schemas.openxmlformats.org/drawingml/2006/main">
              <a:ext uri="{FF2B5EF4-FFF2-40B4-BE49-F238E27FC236}">
                <a16:creationId xmlns:a16="http://schemas.microsoft.com/office/drawing/2014/main" id="{FDCF7B1E-4E1F-426A-905C-4A2B876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KPI + quality rules</a:t>
            </a:r>
          </a:p>
        </p:txBody>
      </p:sp>
      <p:sp>
        <p:nvSpPr>
          <p:cNvPr id="22" name="architecture-status-3">
            <a:extLst xmlns:a="http://schemas.openxmlformats.org/drawingml/2006/main">
              <a:ext uri="{FF2B5EF4-FFF2-40B4-BE49-F238E27FC236}">
                <a16:creationId xmlns:a16="http://schemas.microsoft.com/office/drawing/2014/main" id="{64217629-3EE3-457C-8599-EE88E27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Partially implemented</a:t>
            </a:r>
          </a:p>
        </p:txBody>
      </p:sp>
      <p:sp>
        <p:nvSpPr>
          <p:cNvPr id="23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B164C3EF-CC47-4EEE-959C-B59A9D9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14625"/>
            <a:ext cx="2124075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sp>
        <p:nvSpPr>
          <p:cNvPr id="24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86A31A77-57FE-48E1-AD91-36BB0FB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432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25" name="architecture-detail-4">
            <a:extLst xmlns:a="http://schemas.openxmlformats.org/drawingml/2006/main">
              <a:ext uri="{FF2B5EF4-FFF2-40B4-BE49-F238E27FC236}">
                <a16:creationId xmlns:a16="http://schemas.microsoft.com/office/drawing/2014/main" id="{4A51A86E-9B20-4BDB-A616-C95C7E4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8612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7D3DC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D7D3DC"/>
                </a:solidFill>
                <a:latin typeface="Manrope"/>
                <a:ea typeface="Manrope"/>
                <a:cs typeface="Manrope"/>
              </a:rPr>
              <a:t>Executive + Analyst</a:t>
            </a:r>
          </a:p>
        </p:txBody>
      </p:sp>
      <p:sp>
        <p:nvSpPr>
          <p:cNvPr id="26" name="architecture-status-4">
            <a:extLst xmlns:a="http://schemas.openxmlformats.org/drawingml/2006/main">
              <a:ext uri="{FF2B5EF4-FFF2-40B4-BE49-F238E27FC236}">
                <a16:creationId xmlns:a16="http://schemas.microsoft.com/office/drawing/2014/main" id="{62D42093-62D0-4E2B-A98D-F09E421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5814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5DEFF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E5DEFF"/>
                </a:solidFill>
                <a:latin typeface="Manrope"/>
                <a:ea typeface="Manrope"/>
                <a:cs typeface="Manrope"/>
              </a:rPr>
              <a:t>Interactive prototype</a:t>
            </a:r>
          </a:p>
        </p:txBody>
      </p:sp>
      <p:sp>
        <p:nvSpPr>
          <p:cNvPr id="27" name="governance-bar">
            <a:extLst xmlns:a="http://schemas.openxmlformats.org/drawingml/2006/main">
              <a:ext uri="{FF2B5EF4-FFF2-40B4-BE49-F238E27FC236}">
                <a16:creationId xmlns:a16="http://schemas.microsoft.com/office/drawing/2014/main" id="{6EF5D4D0-5A90-4078-9DD2-7B03604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22967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overnance-label">
            <a:extLst xmlns:a="http://schemas.openxmlformats.org/drawingml/2006/main">
              <a:ext uri="{FF2B5EF4-FFF2-40B4-BE49-F238E27FC236}">
                <a16:creationId xmlns:a16="http://schemas.microsoft.com/office/drawing/2014/main" id="{82C6108E-22E1-4C21-9342-088D1A7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GOVERNANCE &amp; QUALITY</a:t>
            </a:r>
          </a:p>
        </p:txBody>
      </p:sp>
      <p:sp>
        <p:nvSpPr>
          <p:cNvPr id="29" name="governance-principles">
            <a:extLst xmlns:a="http://schemas.openxmlformats.org/drawingml/2006/main">
              <a:ext uri="{FF2B5EF4-FFF2-40B4-BE49-F238E27FC236}">
                <a16:creationId xmlns:a16="http://schemas.microsoft.com/office/drawing/2014/main" id="{418A4CAB-6415-453E-81AE-1D0FDC3C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95825"/>
            <a:ext cx="862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80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Quality, traceability, reproducibility and privacy by design</a:t>
            </a:r>
          </a:p>
        </p:txBody>
      </p:sp>
      <p:sp>
        <p:nvSpPr>
          <p:cNvPr id="30" name="architecture-limit">
            <a:extLst xmlns:a="http://schemas.openxmlformats.org/drawingml/2006/main">
              <a:ext uri="{FF2B5EF4-FFF2-40B4-BE49-F238E27FC236}">
                <a16:creationId xmlns:a16="http://schemas.microsoft.com/office/drawing/2014/main" id="{B9B40CFA-2F1F-4AEA-BD91-9408223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72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Production orchestration, storage, identity and authorized source access remain pending.</a:t>
            </a:r>
          </a:p>
        </p:txBody>
      </p:sp>
      <p:sp>
        <p:nvSpPr>
          <p:cNvPr id="31" name="page-number-top-8">
            <a:extLst xmlns:a="http://schemas.openxmlformats.org/drawingml/2006/main">
              <a:ext uri="{FF2B5EF4-FFF2-40B4-BE49-F238E27FC236}">
                <a16:creationId xmlns:a16="http://schemas.microsoft.com/office/drawing/2014/main" id="{A07A5375-4333-4392-A699-B7AD7E64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32" name="section-label-8">
            <a:extLst xmlns:a="http://schemas.openxmlformats.org/drawingml/2006/main">
              <a:ext uri="{FF2B5EF4-FFF2-40B4-BE49-F238E27FC236}">
                <a16:creationId xmlns:a16="http://schemas.microsoft.com/office/drawing/2014/main" id="{80116CE5-D39C-4690-98FF-EF25E072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TECHNICAL DIRECTION</a:t>
            </a:r>
          </a:p>
        </p:txBody>
      </p:sp>
      <p:sp>
        <p:nvSpPr>
          <p:cNvPr id="33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FB4F8D1B-4F01-422D-898E-AF72507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e221738bf4de1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35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319F7271-3A0A-4A54-BD3F-3119B37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b05f5bf1b4c39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3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8671CFC6-DD48-465E-9E7A-A0768D59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ooter-copy-8">
            <a:extLst xmlns:a="http://schemas.openxmlformats.org/drawingml/2006/main">
              <a:ext uri="{FF2B5EF4-FFF2-40B4-BE49-F238E27FC236}">
                <a16:creationId xmlns:a16="http://schemas.microsoft.com/office/drawing/2014/main" id="{F173C4F8-8C6E-450B-B74A-E44FD0CC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3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4EB1078D-D9E3-49D0-9498-15DB161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6344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52F057-27EB-47FA-ABD7-EB5BA0F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7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SPRINT 3 BUILDS THE DATA FOUNDATION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5ED013-03A0-42D0-9F0B-F963F36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Documented controls become a reproducible and testable pipeline.</a:t>
            </a:r>
          </a:p>
        </p:txBody>
      </p:sp>
      <p:sp>
        <p:nvSpPr>
          <p:cNvPr id="3" name="sprint3-data-status-surface">
            <a:extLst xmlns:a="http://schemas.openxmlformats.org/drawingml/2006/main">
              <a:ext uri="{FF2B5EF4-FFF2-40B4-BE49-F238E27FC236}">
                <a16:creationId xmlns:a16="http://schemas.microsoft.com/office/drawing/2014/main" id="{D5D52AEC-499A-432C-A0F9-758FFB81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461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rint3-data-status">
            <a:extLst xmlns:a="http://schemas.openxmlformats.org/drawingml/2006/main">
              <a:ext uri="{FF2B5EF4-FFF2-40B4-BE49-F238E27FC236}">
                <a16:creationId xmlns:a16="http://schemas.microsoft.com/office/drawing/2014/main" id="{D8FB8D3C-F6A8-4325-93C8-E3FCC4DF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8825"/>
            <a:ext cx="441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PLANNED - NOT YET VISIBLE IN THE CURRENT DASHBOARD</a:t>
            </a:r>
          </a:p>
        </p:txBody>
      </p:sp>
      <p:sp>
        <p:nvSpPr>
          <p:cNvPr id="5" name="sprint3-arrow-1">
            <a:extLst xmlns:a="http://schemas.openxmlformats.org/drawingml/2006/main">
              <a:ext uri="{FF2B5EF4-FFF2-40B4-BE49-F238E27FC236}">
                <a16:creationId xmlns:a16="http://schemas.microsoft.com/office/drawing/2014/main" id="{05066A1B-DB27-43F9-A9EB-94E828F2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576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6" name="sprint3-arrow-2">
            <a:extLst xmlns:a="http://schemas.openxmlformats.org/drawingml/2006/main">
              <a:ext uri="{FF2B5EF4-FFF2-40B4-BE49-F238E27FC236}">
                <a16:creationId xmlns:a16="http://schemas.microsoft.com/office/drawing/2014/main" id="{3EC93885-47F3-4010-8BF1-65ADF98C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7" name="sprint3-arrow-3">
            <a:extLst xmlns:a="http://schemas.openxmlformats.org/drawingml/2006/main">
              <a:ext uri="{FF2B5EF4-FFF2-40B4-BE49-F238E27FC236}">
                <a16:creationId xmlns:a16="http://schemas.microsoft.com/office/drawing/2014/main" id="{FC962EAC-5081-472E-A403-F144894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solidFill>
              <a:srgbClr val="7857FF"/>
            </a:solidFill>
            <a:prstDash val="solid"/>
          </a:ln>
        </p:spPr>
      </p:sp>
      <p:sp>
        <p:nvSpPr>
          <p:cNvPr id="8" name="sprint3-card-0">
            <a:extLst xmlns:a="http://schemas.openxmlformats.org/drawingml/2006/main">
              <a:ext uri="{FF2B5EF4-FFF2-40B4-BE49-F238E27FC236}">
                <a16:creationId xmlns:a16="http://schemas.microsoft.com/office/drawing/2014/main" id="{1D87660A-394E-4FB5-AC5F-34BAA023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724150" cy="278130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sp>
        <p:nvSpPr>
          <p:cNvPr id="9" name="sprint3-card-number-0">
            <a:extLst xmlns:a="http://schemas.openxmlformats.org/drawingml/2006/main">
              <a:ext uri="{FF2B5EF4-FFF2-40B4-BE49-F238E27FC236}">
                <a16:creationId xmlns:a16="http://schemas.microsoft.com/office/drawing/2014/main" id="{7A811D13-C6B3-4DB3-8179-181077D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0" name="sprint3-card-title-0">
            <a:extLst xmlns:a="http://schemas.openxmlformats.org/drawingml/2006/main">
              <a:ext uri="{FF2B5EF4-FFF2-40B4-BE49-F238E27FC236}">
                <a16:creationId xmlns:a16="http://schemas.microsoft.com/office/drawing/2014/main" id="{0B25DF83-F107-4C35-B80D-C2CAEFC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INGEST</a:t>
            </a:r>
          </a:p>
        </p:txBody>
      </p:sp>
      <p:sp>
        <p:nvSpPr>
          <p:cNvPr id="11" name="sprint3-card-rule-0">
            <a:extLst xmlns:a="http://schemas.openxmlformats.org/drawingml/2006/main">
              <a:ext uri="{FF2B5EF4-FFF2-40B4-BE49-F238E27FC236}">
                <a16:creationId xmlns:a16="http://schemas.microsoft.com/office/drawing/2014/main" id="{86156C5B-8B8C-45D8-94AE-44D54F6E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print3-card-0-line-1-mark">
            <a:extLst xmlns:a="http://schemas.openxmlformats.org/drawingml/2006/main">
              <a:ext uri="{FF2B5EF4-FFF2-40B4-BE49-F238E27FC236}">
                <a16:creationId xmlns:a16="http://schemas.microsoft.com/office/drawing/2014/main" id="{BB6BA477-B28F-4704-9D5F-DBBDE23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3" name="sprint3-card-0-line-1">
            <a:extLst xmlns:a="http://schemas.openxmlformats.org/drawingml/2006/main">
              <a:ext uri="{FF2B5EF4-FFF2-40B4-BE49-F238E27FC236}">
                <a16:creationId xmlns:a16="http://schemas.microsoft.com/office/drawing/2014/main" id="{C5271298-CD65-473D-9D6F-80E58E3D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Idempotent pipeline</a:t>
            </a:r>
          </a:p>
        </p:txBody>
      </p:sp>
      <p:sp>
        <p:nvSpPr>
          <p:cNvPr id="14" name="sprint3-card-0-line-2-mark">
            <a:extLst xmlns:a="http://schemas.openxmlformats.org/drawingml/2006/main">
              <a:ext uri="{FF2B5EF4-FFF2-40B4-BE49-F238E27FC236}">
                <a16:creationId xmlns:a16="http://schemas.microsoft.com/office/drawing/2014/main" id="{1F620928-5514-4615-9A1D-3C178C53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15" name="sprint3-card-0-line-2">
            <a:extLst xmlns:a="http://schemas.openxmlformats.org/drawingml/2006/main">
              <a:ext uri="{FF2B5EF4-FFF2-40B4-BE49-F238E27FC236}">
                <a16:creationId xmlns:a16="http://schemas.microsoft.com/office/drawing/2014/main" id="{BC7E74DC-2D76-4FDC-A20C-702CF7C8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Parse portfolio exports</a:t>
            </a:r>
          </a:p>
        </p:txBody>
      </p:sp>
      <p:sp>
        <p:nvSpPr>
          <p:cNvPr id="16" name="sprint3-card-1">
            <a:extLst xmlns:a="http://schemas.openxmlformats.org/drawingml/2006/main">
              <a:ext uri="{FF2B5EF4-FFF2-40B4-BE49-F238E27FC236}">
                <a16:creationId xmlns:a16="http://schemas.microsoft.com/office/drawing/2014/main" id="{08353C80-46D8-46AD-93A6-2BAA830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2724150" cy="278130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17" name="sprint3-card-number-1">
            <a:extLst xmlns:a="http://schemas.openxmlformats.org/drawingml/2006/main">
              <a:ext uri="{FF2B5EF4-FFF2-40B4-BE49-F238E27FC236}">
                <a16:creationId xmlns:a16="http://schemas.microsoft.com/office/drawing/2014/main" id="{A8F06F42-DDE5-40EA-8593-69AD4EF8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8" name="sprint3-card-title-1">
            <a:extLst xmlns:a="http://schemas.openxmlformats.org/drawingml/2006/main">
              <a:ext uri="{FF2B5EF4-FFF2-40B4-BE49-F238E27FC236}">
                <a16:creationId xmlns:a16="http://schemas.microsoft.com/office/drawing/2014/main" id="{A6EEFB80-38E3-4657-831C-42EE906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CURATE</a:t>
            </a:r>
          </a:p>
        </p:txBody>
      </p:sp>
      <p:sp>
        <p:nvSpPr>
          <p:cNvPr id="19" name="sprint3-card-rule-1">
            <a:extLst xmlns:a="http://schemas.openxmlformats.org/drawingml/2006/main">
              <a:ext uri="{FF2B5EF4-FFF2-40B4-BE49-F238E27FC236}">
                <a16:creationId xmlns:a16="http://schemas.microsoft.com/office/drawing/2014/main" id="{0CBCEE2F-7EB4-4259-B806-D63690D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print3-card-1-line-1-mark">
            <a:extLst xmlns:a="http://schemas.openxmlformats.org/drawingml/2006/main">
              <a:ext uri="{FF2B5EF4-FFF2-40B4-BE49-F238E27FC236}">
                <a16:creationId xmlns:a16="http://schemas.microsoft.com/office/drawing/2014/main" id="{8E737DA4-6ADD-47C7-8F1A-F5DA8E2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21" name="sprint3-card-1-line-1">
            <a:extLst xmlns:a="http://schemas.openxmlformats.org/drawingml/2006/main">
              <a:ext uri="{FF2B5EF4-FFF2-40B4-BE49-F238E27FC236}">
                <a16:creationId xmlns:a16="http://schemas.microsoft.com/office/drawing/2014/main" id="{2CE644C4-3984-44F2-8A10-B645AB9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Silver and Gold layers</a:t>
            </a:r>
          </a:p>
        </p:txBody>
      </p:sp>
      <p:sp>
        <p:nvSpPr>
          <p:cNvPr id="22" name="sprint3-card-1-line-2-mark">
            <a:extLst xmlns:a="http://schemas.openxmlformats.org/drawingml/2006/main">
              <a:ext uri="{FF2B5EF4-FFF2-40B4-BE49-F238E27FC236}">
                <a16:creationId xmlns:a16="http://schemas.microsoft.com/office/drawing/2014/main" id="{390AC722-E449-44B9-873A-7703DAD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43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23" name="sprint3-card-1-line-2">
            <a:extLst xmlns:a="http://schemas.openxmlformats.org/drawingml/2006/main">
              <a:ext uri="{FF2B5EF4-FFF2-40B4-BE49-F238E27FC236}">
                <a16:creationId xmlns:a16="http://schemas.microsoft.com/office/drawing/2014/main" id="{7CD5C373-F9CA-4F47-8AFB-90AAA892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Governed Serving outputs</a:t>
            </a:r>
          </a:p>
        </p:txBody>
      </p:sp>
      <p:sp>
        <p:nvSpPr>
          <p:cNvPr id="24" name="sprint3-card-2">
            <a:extLst xmlns:a="http://schemas.openxmlformats.org/drawingml/2006/main">
              <a:ext uri="{FF2B5EF4-FFF2-40B4-BE49-F238E27FC236}">
                <a16:creationId xmlns:a16="http://schemas.microsoft.com/office/drawing/2014/main" id="{CB7123D9-D83F-413D-81C6-BA4F73C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2724150" cy="278130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25" name="sprint3-card-number-2">
            <a:extLst xmlns:a="http://schemas.openxmlformats.org/drawingml/2006/main">
              <a:ext uri="{FF2B5EF4-FFF2-40B4-BE49-F238E27FC236}">
                <a16:creationId xmlns:a16="http://schemas.microsoft.com/office/drawing/2014/main" id="{B882064E-84F7-4B42-AA5B-8453394E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6" name="sprint3-card-title-2">
            <a:extLst xmlns:a="http://schemas.openxmlformats.org/drawingml/2006/main">
              <a:ext uri="{FF2B5EF4-FFF2-40B4-BE49-F238E27FC236}">
                <a16:creationId xmlns:a16="http://schemas.microsoft.com/office/drawing/2014/main" id="{89033C1E-5FCD-48C7-8261-D1065673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CONTROL</a:t>
            </a:r>
          </a:p>
        </p:txBody>
      </p:sp>
      <p:sp>
        <p:nvSpPr>
          <p:cNvPr id="27" name="sprint3-card-rule-2">
            <a:extLst xmlns:a="http://schemas.openxmlformats.org/drawingml/2006/main">
              <a:ext uri="{FF2B5EF4-FFF2-40B4-BE49-F238E27FC236}">
                <a16:creationId xmlns:a16="http://schemas.microsoft.com/office/drawing/2014/main" id="{EB313DA9-D649-49B6-A268-2C2824CD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print3-card-2-line-1-mark">
            <a:extLst xmlns:a="http://schemas.openxmlformats.org/drawingml/2006/main">
              <a:ext uri="{FF2B5EF4-FFF2-40B4-BE49-F238E27FC236}">
                <a16:creationId xmlns:a16="http://schemas.microsoft.com/office/drawing/2014/main" id="{5827B19C-8DFE-4B95-B028-687894B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29" name="sprint3-card-2-line-1">
            <a:extLst xmlns:a="http://schemas.openxmlformats.org/drawingml/2006/main">
              <a:ext uri="{FF2B5EF4-FFF2-40B4-BE49-F238E27FC236}">
                <a16:creationId xmlns:a16="http://schemas.microsoft.com/office/drawing/2014/main" id="{F6A450F4-9373-4CF3-93EE-6CB15A6D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71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Coded quality rules</a:t>
            </a:r>
          </a:p>
        </p:txBody>
      </p:sp>
      <p:sp>
        <p:nvSpPr>
          <p:cNvPr id="30" name="sprint3-card-2-line-2-mark">
            <a:extLst xmlns:a="http://schemas.openxmlformats.org/drawingml/2006/main">
              <a:ext uri="{FF2B5EF4-FFF2-40B4-BE49-F238E27FC236}">
                <a16:creationId xmlns:a16="http://schemas.microsoft.com/office/drawing/2014/main" id="{0D488434-D06A-4591-89A4-410D10D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31" name="sprint3-card-2-line-2">
            <a:extLst xmlns:a="http://schemas.openxmlformats.org/drawingml/2006/main">
              <a:ext uri="{FF2B5EF4-FFF2-40B4-BE49-F238E27FC236}">
                <a16:creationId xmlns:a16="http://schemas.microsoft.com/office/drawing/2014/main" id="{DC7C6CC3-D2B7-4713-AC30-DE5649E7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434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Quarantine and privacy gates</a:t>
            </a:r>
          </a:p>
        </p:txBody>
      </p:sp>
      <p:sp>
        <p:nvSpPr>
          <p:cNvPr id="32" name="sprint3-card-3">
            <a:extLst xmlns:a="http://schemas.openxmlformats.org/drawingml/2006/main">
              <a:ext uri="{FF2B5EF4-FFF2-40B4-BE49-F238E27FC236}">
                <a16:creationId xmlns:a16="http://schemas.microsoft.com/office/drawing/2014/main" id="{A3991168-D24B-4322-A2A3-4EF31A4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2724150" cy="278130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9"/>
            </a:solidFill>
            <a:prstDash val="solid"/>
          </a:ln>
        </p:spPr>
      </p:sp>
      <p:sp>
        <p:nvSpPr>
          <p:cNvPr id="33" name="sprint3-card-number-3">
            <a:extLst xmlns:a="http://schemas.openxmlformats.org/drawingml/2006/main">
              <a:ext uri="{FF2B5EF4-FFF2-40B4-BE49-F238E27FC236}">
                <a16:creationId xmlns:a16="http://schemas.microsoft.com/office/drawing/2014/main" id="{74C77FF3-C027-4A68-88E7-23ECF49C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14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34" name="sprint3-card-title-3">
            <a:extLst xmlns:a="http://schemas.openxmlformats.org/drawingml/2006/main">
              <a:ext uri="{FF2B5EF4-FFF2-40B4-BE49-F238E27FC236}">
                <a16:creationId xmlns:a16="http://schemas.microsoft.com/office/drawing/2014/main" id="{CE5AD24C-4408-4BE8-929E-B2DBEB5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PROVE</a:t>
            </a:r>
          </a:p>
        </p:txBody>
      </p:sp>
      <p:sp>
        <p:nvSpPr>
          <p:cNvPr id="35" name="sprint3-card-rule-3">
            <a:extLst xmlns:a="http://schemas.openxmlformats.org/drawingml/2006/main">
              <a:ext uri="{FF2B5EF4-FFF2-40B4-BE49-F238E27FC236}">
                <a16:creationId xmlns:a16="http://schemas.microsoft.com/office/drawing/2014/main" id="{B1BE1B77-09CC-43D8-B061-44119C9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print3-card-3-line-1-mark">
            <a:extLst xmlns:a="http://schemas.openxmlformats.org/drawingml/2006/main">
              <a:ext uri="{FF2B5EF4-FFF2-40B4-BE49-F238E27FC236}">
                <a16:creationId xmlns:a16="http://schemas.microsoft.com/office/drawing/2014/main" id="{E18284E3-48DD-4893-AAAA-35801350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71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37" name="sprint3-card-3-line-1">
            <a:extLst xmlns:a="http://schemas.openxmlformats.org/drawingml/2006/main">
              <a:ext uri="{FF2B5EF4-FFF2-40B4-BE49-F238E27FC236}">
                <a16:creationId xmlns:a16="http://schemas.microsoft.com/office/drawing/2014/main" id="{984EFE0F-0682-4044-89CA-22F973A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71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Manifests and lineage</a:t>
            </a:r>
          </a:p>
        </p:txBody>
      </p:sp>
      <p:sp>
        <p:nvSpPr>
          <p:cNvPr id="38" name="sprint3-card-3-line-2-mark">
            <a:extLst xmlns:a="http://schemas.openxmlformats.org/drawingml/2006/main">
              <a:ext uri="{FF2B5EF4-FFF2-40B4-BE49-F238E27FC236}">
                <a16:creationId xmlns:a16="http://schemas.microsoft.com/office/drawing/2014/main" id="{77E29062-A5A9-4D5D-AA73-37B7B729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43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-</a:t>
            </a:r>
          </a:p>
        </p:txBody>
      </p:sp>
      <p:sp>
        <p:nvSpPr>
          <p:cNvPr id="39" name="sprint3-card-3-line-2">
            <a:extLst xmlns:a="http://schemas.openxmlformats.org/drawingml/2006/main">
              <a:ext uri="{FF2B5EF4-FFF2-40B4-BE49-F238E27FC236}">
                <a16:creationId xmlns:a16="http://schemas.microsoft.com/office/drawing/2014/main" id="{C8A31BB1-8370-47AF-ABF9-CAC3166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434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Repeatable reconciliation tests</a:t>
            </a:r>
          </a:p>
        </p:txBody>
      </p:sp>
      <p:sp>
        <p:nvSpPr>
          <p:cNvPr id="40" name="sprint3-data-outcome">
            <a:extLst xmlns:a="http://schemas.openxmlformats.org/drawingml/2006/main">
              <a:ext uri="{FF2B5EF4-FFF2-40B4-BE49-F238E27FC236}">
                <a16:creationId xmlns:a16="http://schemas.microsoft.com/office/drawing/2014/main" id="{D199B88F-BB00-443B-AACF-60FDEF2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1236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print3-data-outcome-label">
            <a:extLst xmlns:a="http://schemas.openxmlformats.org/drawingml/2006/main">
              <a:ext uri="{FF2B5EF4-FFF2-40B4-BE49-F238E27FC236}">
                <a16:creationId xmlns:a16="http://schemas.microsoft.com/office/drawing/2014/main" id="{9286C333-D42B-4203-BFB9-FE23BEC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SPRINT 3 OUTCOME</a:t>
            </a:r>
          </a:p>
        </p:txBody>
      </p:sp>
      <p:sp>
        <p:nvSpPr>
          <p:cNvPr id="42" name="sprint3-data-outcome-body">
            <a:extLst xmlns:a="http://schemas.openxmlformats.org/drawingml/2006/main">
              <a:ext uri="{FF2B5EF4-FFF2-40B4-BE49-F238E27FC236}">
                <a16:creationId xmlns:a16="http://schemas.microsoft.com/office/drawing/2014/main" id="{929F7C77-80FE-4A90-A305-066C624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9626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650" b="0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 deterministic path from authorized input to controlled application-ready data.</a:t>
            </a:r>
          </a:p>
        </p:txBody>
      </p:sp>
      <p:sp>
        <p:nvSpPr>
          <p:cNvPr id="43" name="page-number-top-9">
            <a:extLst xmlns:a="http://schemas.openxmlformats.org/drawingml/2006/main">
              <a:ext uri="{FF2B5EF4-FFF2-40B4-BE49-F238E27FC236}">
                <a16:creationId xmlns:a16="http://schemas.microsoft.com/office/drawing/2014/main" id="{EEAF0D7E-2E3B-4AEF-BCAE-0F85BA9D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  <p:sp>
        <p:nvSpPr>
          <p:cNvPr id="44" name="section-label-9">
            <a:extLst xmlns:a="http://schemas.openxmlformats.org/drawingml/2006/main">
              <a:ext uri="{FF2B5EF4-FFF2-40B4-BE49-F238E27FC236}">
                <a16:creationId xmlns:a16="http://schemas.microsoft.com/office/drawing/2014/main" id="{F8F40D93-80BC-4439-B5E2-7978FBBF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SPRINT 3 PLAN</a:t>
            </a:r>
          </a:p>
        </p:txBody>
      </p:sp>
      <p:sp>
        <p:nvSpPr>
          <p:cNvPr id="45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8CD74412-5DC3-4C53-95DB-616489E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cbab1f2f44a69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47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B5745E66-524F-4DDB-9CFA-241996C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f6cd8c0234a00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49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4E2A5CB4-9E20-4761-8517-63F9378A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copy-9">
            <a:extLst xmlns:a="http://schemas.openxmlformats.org/drawingml/2006/main">
              <a:ext uri="{FF2B5EF4-FFF2-40B4-BE49-F238E27FC236}">
                <a16:creationId xmlns:a16="http://schemas.microsoft.com/office/drawing/2014/main" id="{F31501FA-D0B4-430B-8759-E5198794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51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23C7D766-3746-415F-834C-72358220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2485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5A143E-5C02-4A2B-9513-D297962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253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SPRINT 3 CONNECTS THE APPLICATION ALPHA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150977-45C2-4A40-BB3E-48D4675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81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875" b="0" i="1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The validated interface becomes the front end of governed data outputs.</a:t>
            </a:r>
          </a:p>
        </p:txBody>
      </p:sp>
      <p:sp>
        <p:nvSpPr>
          <p:cNvPr id="3" name="next-checkpoint-kicker">
            <a:extLst xmlns:a="http://schemas.openxmlformats.org/drawingml/2006/main">
              <a:ext uri="{FF2B5EF4-FFF2-40B4-BE49-F238E27FC236}">
                <a16:creationId xmlns:a16="http://schemas.microsoft.com/office/drawing/2014/main" id="{066A41DD-389C-4A4B-B0AD-4862325D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NEXT CHECKPOINT</a:t>
            </a:r>
          </a:p>
        </p:txBody>
      </p:sp>
      <p:sp>
        <p:nvSpPr>
          <p:cNvPr id="4" name="next-checkpoint-question">
            <a:extLst xmlns:a="http://schemas.openxmlformats.org/drawingml/2006/main">
              <a:ext uri="{FF2B5EF4-FFF2-40B4-BE49-F238E27FC236}">
                <a16:creationId xmlns:a16="http://schemas.microsoft.com/office/drawing/2014/main" id="{2497DD0C-062C-4A30-AC55-90F2C022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 i="1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3675" b="0" i="1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What changes next?</a:t>
            </a:r>
          </a:p>
        </p:txBody>
      </p:sp>
      <p:sp>
        <p:nvSpPr>
          <p:cNvPr id="5" name="next-checkpoint-status">
            <a:extLst xmlns:a="http://schemas.openxmlformats.org/drawingml/2006/main">
              <a:ext uri="{FF2B5EF4-FFF2-40B4-BE49-F238E27FC236}">
                <a16:creationId xmlns:a16="http://schemas.microsoft.com/office/drawing/2014/main" id="{20E72C68-4B27-42B2-9C97-18B45D6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3BE8"/>
                </a:solidFill>
                <a:latin typeface="Manrope"/>
                <a:ea typeface="Manrope"/>
                <a:cs typeface="Manrope"/>
              </a:defRPr>
            </a:pPr>
            <a:r>
              <a:rPr sz="1800" b="0" i="0">
                <a:solidFill>
                  <a:srgbClr val="593BE8"/>
                </a:solidFill>
                <a:latin typeface="Manrope"/>
                <a:ea typeface="Manrope"/>
                <a:cs typeface="Manrope"/>
              </a:rPr>
              <a:t>Pending partner review and data-source confirmation</a:t>
            </a:r>
          </a:p>
        </p:txBody>
      </p:sp>
      <p:sp>
        <p:nvSpPr>
          <p:cNvPr id="6" name="next-checkpoint-boundary">
            <a:extLst xmlns:a="http://schemas.openxmlformats.org/drawingml/2006/main">
              <a:ext uri="{FF2B5EF4-FFF2-40B4-BE49-F238E27FC236}">
                <a16:creationId xmlns:a16="http://schemas.microsoft.com/office/drawing/2014/main" id="{76EF43DC-213C-4986-9B73-90D353F9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Planned - not yet visible</a:t>
            </a:r>
          </a:p>
        </p:txBody>
      </p:sp>
      <p:sp>
        <p:nvSpPr>
          <p:cNvPr id="7" name="next-checkpoint-vertical">
            <a:extLst xmlns:a="http://schemas.openxmlformats.org/drawingml/2006/main">
              <a:ext uri="{FF2B5EF4-FFF2-40B4-BE49-F238E27FC236}">
                <a16:creationId xmlns:a16="http://schemas.microsoft.com/office/drawing/2014/main" id="{196CCE43-7403-47D5-B738-1BE77B1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952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pha-step-number-0">
            <a:extLst xmlns:a="http://schemas.openxmlformats.org/drawingml/2006/main">
              <a:ext uri="{FF2B5EF4-FFF2-40B4-BE49-F238E27FC236}">
                <a16:creationId xmlns:a16="http://schemas.microsoft.com/office/drawing/2014/main" id="{6CA8A38D-7DC0-49D1-891C-CCFFD8A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9" name="alpha-step-title-0">
            <a:extLst xmlns:a="http://schemas.openxmlformats.org/drawingml/2006/main">
              <a:ext uri="{FF2B5EF4-FFF2-40B4-BE49-F238E27FC236}">
                <a16:creationId xmlns:a16="http://schemas.microsoft.com/office/drawing/2014/main" id="{039A406F-66C5-48A9-8565-69F9A03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8602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Governed outputs replace static sample data</a:t>
            </a:r>
          </a:p>
        </p:txBody>
      </p:sp>
      <p:sp>
        <p:nvSpPr>
          <p:cNvPr id="10" name="alpha-step-detail-0">
            <a:extLst xmlns:a="http://schemas.openxmlformats.org/drawingml/2006/main">
              <a:ext uri="{FF2B5EF4-FFF2-40B4-BE49-F238E27FC236}">
                <a16:creationId xmlns:a16="http://schemas.microsoft.com/office/drawing/2014/main" id="{478B9212-1EEE-4207-B6B8-33053DC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4322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Connect the interface to repeatable Serving contracts.</a:t>
            </a:r>
          </a:p>
        </p:txBody>
      </p:sp>
      <p:sp>
        <p:nvSpPr>
          <p:cNvPr id="11" name="alpha-step-rule-0">
            <a:extLst xmlns:a="http://schemas.openxmlformats.org/drawingml/2006/main">
              <a:ext uri="{FF2B5EF4-FFF2-40B4-BE49-F238E27FC236}">
                <a16:creationId xmlns:a16="http://schemas.microsoft.com/office/drawing/2014/main" id="{AC903AA8-ECB5-4EB9-9751-1E981D0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637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lpha-step-number-1">
            <a:extLst xmlns:a="http://schemas.openxmlformats.org/drawingml/2006/main">
              <a:ext uri="{FF2B5EF4-FFF2-40B4-BE49-F238E27FC236}">
                <a16:creationId xmlns:a16="http://schemas.microsoft.com/office/drawing/2014/main" id="{ADD4631F-2763-41C7-8657-AA8274AE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3" name="alpha-step-title-1">
            <a:extLst xmlns:a="http://schemas.openxmlformats.org/drawingml/2006/main">
              <a:ext uri="{FF2B5EF4-FFF2-40B4-BE49-F238E27FC236}">
                <a16:creationId xmlns:a16="http://schemas.microsoft.com/office/drawing/2014/main" id="{FC304856-131A-4D6A-B53A-6236833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Real states and validated calculations</a:t>
            </a:r>
          </a:p>
        </p:txBody>
      </p:sp>
      <p:sp>
        <p:nvSpPr>
          <p:cNvPr id="14" name="alpha-step-detail-1">
            <a:extLst xmlns:a="http://schemas.openxmlformats.org/drawingml/2006/main">
              <a:ext uri="{FF2B5EF4-FFF2-40B4-BE49-F238E27FC236}">
                <a16:creationId xmlns:a16="http://schemas.microsoft.com/office/drawing/2014/main" id="{D91CE148-39CA-4465-9374-14E26B9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Persist selections, deepen drill-downs and certify KPI logic.</a:t>
            </a:r>
          </a:p>
        </p:txBody>
      </p:sp>
      <p:sp>
        <p:nvSpPr>
          <p:cNvPr id="15" name="alpha-step-rule-1">
            <a:extLst xmlns:a="http://schemas.openxmlformats.org/drawingml/2006/main">
              <a:ext uri="{FF2B5EF4-FFF2-40B4-BE49-F238E27FC236}">
                <a16:creationId xmlns:a16="http://schemas.microsoft.com/office/drawing/2014/main" id="{135BCB06-4B50-490E-91AB-BD0B0C69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91075"/>
            <a:ext cx="637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lpha-step-number-2">
            <a:extLst xmlns:a="http://schemas.openxmlformats.org/drawingml/2006/main">
              <a:ext uri="{FF2B5EF4-FFF2-40B4-BE49-F238E27FC236}">
                <a16:creationId xmlns:a16="http://schemas.microsoft.com/office/drawing/2014/main" id="{DEB73FCC-3055-4015-9E12-1A3DAF06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7" name="alpha-step-title-2">
            <a:extLst xmlns:a="http://schemas.openxmlformats.org/drawingml/2006/main">
              <a:ext uri="{FF2B5EF4-FFF2-40B4-BE49-F238E27FC236}">
                <a16:creationId xmlns:a16="http://schemas.microsoft.com/office/drawing/2014/main" id="{8B351421-E788-4984-9C51-5AE7C38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5777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Automated evidence and acceptance tests</a:t>
            </a:r>
          </a:p>
        </p:txBody>
      </p:sp>
      <p:sp>
        <p:nvSpPr>
          <p:cNvPr id="18" name="alpha-step-detail-2">
            <a:extLst xmlns:a="http://schemas.openxmlformats.org/drawingml/2006/main">
              <a:ext uri="{FF2B5EF4-FFF2-40B4-BE49-F238E27FC236}">
                <a16:creationId xmlns:a16="http://schemas.microsoft.com/office/drawing/2014/main" id="{A4277B14-0B62-4F14-A68D-5527D53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149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350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Run history, integration checks and Analyst validation become repeatable.</a:t>
            </a:r>
          </a:p>
        </p:txBody>
      </p:sp>
      <p:sp>
        <p:nvSpPr>
          <p:cNvPr id="19" name="alpha-step-rule-2">
            <a:extLst xmlns:a="http://schemas.openxmlformats.org/drawingml/2006/main">
              <a:ext uri="{FF2B5EF4-FFF2-40B4-BE49-F238E27FC236}">
                <a16:creationId xmlns:a16="http://schemas.microsoft.com/office/drawing/2014/main" id="{AE76B235-9E09-4C85-94D1-6311817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076950"/>
            <a:ext cx="6372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lpha-closing-bar">
            <a:extLst xmlns:a="http://schemas.openxmlformats.org/drawingml/2006/main">
              <a:ext uri="{FF2B5EF4-FFF2-40B4-BE49-F238E27FC236}">
                <a16:creationId xmlns:a16="http://schemas.microsoft.com/office/drawing/2014/main" id="{3B145572-2F09-4247-8BC2-76FCBC3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334125"/>
            <a:ext cx="63722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lpha-closing">
            <a:extLst xmlns:a="http://schemas.openxmlformats.org/drawingml/2006/main">
              <a:ext uri="{FF2B5EF4-FFF2-40B4-BE49-F238E27FC236}">
                <a16:creationId xmlns:a16="http://schemas.microsoft.com/office/drawing/2014/main" id="{8D94209F-7381-42AC-88DD-36DCE502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534150"/>
            <a:ext cx="6372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217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121217"/>
                </a:solidFill>
                <a:latin typeface="Manrope"/>
                <a:ea typeface="Manrope"/>
                <a:cs typeface="Manrope"/>
              </a:rPr>
              <a:t>Next checkpoint: connect the validated interface to a reproducible data pipeline and deliver the first application alpha.</a:t>
            </a:r>
          </a:p>
        </p:txBody>
      </p:sp>
      <p:sp>
        <p:nvSpPr>
          <p:cNvPr id="22" name="page-number-top-10">
            <a:extLst xmlns:a="http://schemas.openxmlformats.org/drawingml/2006/main">
              <a:ext uri="{FF2B5EF4-FFF2-40B4-BE49-F238E27FC236}">
                <a16:creationId xmlns:a16="http://schemas.microsoft.com/office/drawing/2014/main" id="{126EC01C-9241-4F42-97ED-EBD33402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857FF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3" name="section-label-10">
            <a:extLst xmlns:a="http://schemas.openxmlformats.org/drawingml/2006/main">
              <a:ext uri="{FF2B5EF4-FFF2-40B4-BE49-F238E27FC236}">
                <a16:creationId xmlns:a16="http://schemas.microsoft.com/office/drawing/2014/main" id="{21CB22FA-6837-414A-AB34-A4DF724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SPRINT 3 PLAN</a:t>
            </a:r>
          </a:p>
        </p:txBody>
      </p:sp>
      <p:sp>
        <p:nvSpPr>
          <p:cNvPr id="24" name="official-logo-lockup">
            <a:extLst xmlns:a="http://schemas.openxmlformats.org/drawingml/2006/main">
              <a:ext uri="{FF2B5EF4-FFF2-40B4-BE49-F238E27FC236}">
                <a16:creationId xmlns:a16="http://schemas.microsoft.com/office/drawing/2014/main" id="{5B4DFE44-56C7-4BA5-A3CA-C6CE2C2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2381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111116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92a56d6c3444f"/>
          <a:stretch xmlns:a="http://schemas.openxmlformats.org/drawingml/2006/main"/>
        </p:blipFill>
        <p:spPr>
          <a:xfrm xmlns:a="http://schemas.openxmlformats.org/drawingml/2006/main">
            <a:off x="10826115" y="304800"/>
            <a:ext cx="731520" cy="400050"/>
          </a:xfrm>
          <a:prstGeom xmlns:a="http://schemas.openxmlformats.org/drawingml/2006/main" prst="rect">
            <a:avLst/>
          </a:prstGeom>
        </p:spPr>
      </p:pic>
      <p:sp>
        <p:nvSpPr>
          <p:cNvPr id="26" name="logo-separator">
            <a:extLst xmlns:a="http://schemas.openxmlformats.org/drawingml/2006/main">
              <a:ext uri="{FF2B5EF4-FFF2-40B4-BE49-F238E27FC236}">
                <a16:creationId xmlns:a16="http://schemas.microsoft.com/office/drawing/2014/main" id="{6B596B6B-2015-46B5-B8AF-7831BD7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2425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7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e060bced34c7c"/>
          <a:stretch xmlns:a="http://schemas.openxmlformats.org/drawingml/2006/main"/>
        </p:blipFill>
        <p:spPr>
          <a:xfrm xmlns:a="http://schemas.openxmlformats.org/drawingml/2006/main">
            <a:off x="11845396" y="314325"/>
            <a:ext cx="931333" cy="381000"/>
          </a:xfrm>
          <a:prstGeom xmlns:a="http://schemas.openxmlformats.org/drawingml/2006/main" prst="rect">
            <a:avLst/>
          </a:prstGeom>
        </p:spPr>
      </p:pic>
      <p:sp>
        <p:nvSpPr>
          <p:cNvPr id="28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5AB81BC-146D-4EE8-9051-702CEBD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53275"/>
            <a:ext cx="1253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copy-10">
            <a:extLst xmlns:a="http://schemas.openxmlformats.org/drawingml/2006/main">
              <a:ext uri="{FF2B5EF4-FFF2-40B4-BE49-F238E27FC236}">
                <a16:creationId xmlns:a16="http://schemas.microsoft.com/office/drawing/2014/main" id="{3A861AE1-74A4-4BA8-B136-4D3D916C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Inteli x YvY Capital | Funds Manager | Sprint 2</a:t>
            </a:r>
          </a:p>
        </p:txBody>
      </p:sp>
      <p:sp>
        <p:nvSpPr>
          <p:cNvPr id="3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D2B0CF71-00D9-4D5D-8245-CF83B44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86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74717B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785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2026-08-22T23:10:35.3190000Z</dcterms:created>
  <dcterms:modified xsi:type="dcterms:W3CDTF">2026-08-22T23:10:35.3190000Z</dcterms:modified>
</coreProperties>
</file>